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4"/>
    <p:sldMasterId id="2147483839" r:id="rId5"/>
  </p:sldMasterIdLst>
  <p:notesMasterIdLst>
    <p:notesMasterId r:id="rId21"/>
  </p:notesMasterIdLst>
  <p:handoutMasterIdLst>
    <p:handoutMasterId r:id="rId22"/>
  </p:handoutMasterIdLst>
  <p:sldIdLst>
    <p:sldId id="2147477424" r:id="rId6"/>
    <p:sldId id="2147477448" r:id="rId7"/>
    <p:sldId id="2147477449" r:id="rId8"/>
    <p:sldId id="2147477450" r:id="rId9"/>
    <p:sldId id="2147477451" r:id="rId10"/>
    <p:sldId id="2147477452" r:id="rId11"/>
    <p:sldId id="2147477453" r:id="rId12"/>
    <p:sldId id="2147477455" r:id="rId13"/>
    <p:sldId id="2147477454" r:id="rId14"/>
    <p:sldId id="2147477456" r:id="rId15"/>
    <p:sldId id="2147477459" r:id="rId16"/>
    <p:sldId id="2147477457" r:id="rId17"/>
    <p:sldId id="2147477458" r:id="rId18"/>
    <p:sldId id="2147477460" r:id="rId19"/>
    <p:sldId id="2147477461" r:id="rId20"/>
  </p:sldIdLst>
  <p:sldSz cx="18288000" cy="10287000"/>
  <p:notesSz cx="6858000" cy="9144000"/>
  <p:embeddedFontLst>
    <p:embeddedFont>
      <p:font typeface="Anova Bold" panose="020B0604020202020204" charset="0"/>
      <p:bold r:id="rId23"/>
      <p:boldItalic r:id="rId24"/>
    </p:embeddedFont>
    <p:embeddedFont>
      <p:font typeface="Anova Light" panose="020B0604020202020204" charset="0"/>
      <p:regular r:id="rId25"/>
      <p:italic r:id="rId26"/>
    </p:embeddedFont>
    <p:embeddedFont>
      <p:font typeface="Segoe UI" panose="020B0502040204020203" pitchFamily="34" charset="0"/>
      <p:regular r:id="rId27"/>
      <p:bold r:id="rId28"/>
      <p:italic r:id="rId29"/>
      <p:boldItalic r:id="rId30"/>
    </p:embeddedFont>
  </p:embeddedFontLst>
  <p:custDataLst>
    <p:tags r:id="rId31"/>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C3829F-2C56-4915-AA34-5F93EE359221}">
          <p14:sldIdLst>
            <p14:sldId id="2147477424"/>
            <p14:sldId id="2147477448"/>
            <p14:sldId id="2147477449"/>
            <p14:sldId id="2147477450"/>
            <p14:sldId id="2147477451"/>
            <p14:sldId id="2147477452"/>
            <p14:sldId id="2147477453"/>
            <p14:sldId id="2147477455"/>
            <p14:sldId id="2147477454"/>
            <p14:sldId id="2147477456"/>
            <p14:sldId id="2147477459"/>
            <p14:sldId id="2147477457"/>
            <p14:sldId id="2147477458"/>
            <p14:sldId id="2147477460"/>
            <p14:sldId id="214747746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708D14-BD54-920F-18BB-8395E60AE589}" name="Alice McClure" initials="AM" userId="S::alice.mcclure@sas.com::6210c489-566a-4639-8da1-84bcfd842f43" providerId="AD"/>
  <p188:author id="{6DFEA739-C4EE-3CDE-94E6-A95954A908DE}" name="Tine Haaber" initials="TH" userId="S::Tine.Haaber@SAS.COM::b28dffea-6139-4081-9090-e82e8f8437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324" y="-5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1.fntdata"/><Relationship Id="rId28" Type="http://schemas.openxmlformats.org/officeDocument/2006/relationships/font" Target="fonts/font6.fntdata"/><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ags" Target="../tags/tag26.xm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7/23/2026</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1" y="2927508"/>
            <a:ext cx="15778269"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1" y="4220170"/>
            <a:ext cx="15778269"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2927508"/>
            <a:ext cx="15782544"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4220170"/>
            <a:ext cx="15782544"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B30C0FC0-2C2C-10CE-0594-84811DEFE33B}"/>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073428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D4FEAADD-6A43-A3AD-C613-62CE351F345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D65EAAE1-A5CA-D245-874C-7FB6F8D56FA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3397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392088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73512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444273"/>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accent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421581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57425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306918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7B26AFD3-845A-9D0A-335D-AE00D0ADA6A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145482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2F6DB731-09D4-08B5-8614-68F3501B51F7}"/>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F763AC1A-EE13-FF0B-9CAB-4F6421B970D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41213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80909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AS - Video Only">
    <p:bg>
      <p:bgPr>
        <a:solidFill>
          <a:schemeClr val="tx1"/>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86287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4.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0"/>
            <a:ext cx="15773400" cy="6865146"/>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pic>
        <p:nvPicPr>
          <p:cNvPr id="5" name="Picture 6">
            <a:extLst>
              <a:ext uri="{FF2B5EF4-FFF2-40B4-BE49-F238E27FC236}">
                <a16:creationId xmlns:a16="http://schemas.microsoft.com/office/drawing/2014/main" id="{DCAC5147-3BF8-9198-FA11-9363F87D0F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8DBA1A5-F11E-586C-AE20-3947111EA4AC}"/>
              </a:ext>
            </a:extLst>
          </p:cNvPr>
          <p:cNvSpPr/>
          <p:nvPr userDrawn="1"/>
        </p:nvSpPr>
        <p:spPr>
          <a:xfrm>
            <a:off x="16477128" y="9143999"/>
            <a:ext cx="1810872" cy="1143001"/>
          </a:xfrm>
          <a:prstGeom prst="rect">
            <a:avLst/>
          </a:prstGeom>
          <a:solidFill>
            <a:schemeClr val="accent5">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0C7363F-AF69-28E6-1F57-D691A99669FF}"/>
              </a:ext>
            </a:extLst>
          </p:cNvPr>
          <p:cNvPicPr>
            <a:picLocks noChangeAspect="1"/>
          </p:cNvPicPr>
          <p:nvPr userDrawn="1"/>
        </p:nvPicPr>
        <p:blipFill>
          <a:blip r:embed="rId14"/>
          <a:stretch>
            <a:fillRect/>
          </a:stretch>
        </p:blipFill>
        <p:spPr>
          <a:xfrm>
            <a:off x="0" y="9143999"/>
            <a:ext cx="16477128" cy="1143001"/>
          </a:xfrm>
          <a:prstGeom prst="rect">
            <a:avLst/>
          </a:prstGeom>
        </p:spPr>
      </p:pic>
      <p:sp>
        <p:nvSpPr>
          <p:cNvPr id="3" name="Text Placeholder 2"/>
          <p:cNvSpPr>
            <a:spLocks noGrp="1"/>
          </p:cNvSpPr>
          <p:nvPr>
            <p:ph type="body" idx="1"/>
          </p:nvPr>
        </p:nvSpPr>
        <p:spPr>
          <a:xfrm>
            <a:off x="1252432" y="2400300"/>
            <a:ext cx="15773400" cy="6444273"/>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sp>
        <p:nvSpPr>
          <p:cNvPr id="8" name="TextBox 4">
            <a:extLst>
              <a:ext uri="{FF2B5EF4-FFF2-40B4-BE49-F238E27FC236}">
                <a16:creationId xmlns:a16="http://schemas.microsoft.com/office/drawing/2014/main" id="{C16FACEF-10C6-6BB8-EE57-ACF39B01B1D3}"/>
              </a:ext>
            </a:extLst>
          </p:cNvPr>
          <p:cNvSpPr txBox="1"/>
          <p:nvPr userDrawn="1"/>
        </p:nvSpPr>
        <p:spPr>
          <a:xfrm>
            <a:off x="1252432" y="9316082"/>
            <a:ext cx="8588993" cy="584775"/>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3200" b="1" i="0" u="none" strike="noStrike" kern="300" cap="none" spc="100" normalizeH="0" baseline="0" noProof="0">
                <a:ln>
                  <a:noFill/>
                </a:ln>
                <a:solidFill>
                  <a:schemeClr val="bg1"/>
                </a:solidFill>
                <a:effectLst/>
                <a:uLnTx/>
                <a:uFillTx/>
                <a:latin typeface="Anova Bold" panose="020B0503020203020204" pitchFamily="34" charset="0"/>
                <a:ea typeface="Anova Bold" panose="020B0703020203020204" pitchFamily="34" charset="0"/>
                <a:cs typeface="Anova Light" panose="020B0403020203020204" pitchFamily="34" charset="0"/>
              </a:rPr>
              <a:t>CONFIDENTIAL — DO NOT DISCLOSE</a:t>
            </a:r>
          </a:p>
        </p:txBody>
      </p:sp>
      <p:sp>
        <p:nvSpPr>
          <p:cNvPr id="10" name="TextBox 4">
            <a:extLst>
              <a:ext uri="{FF2B5EF4-FFF2-40B4-BE49-F238E27FC236}">
                <a16:creationId xmlns:a16="http://schemas.microsoft.com/office/drawing/2014/main" id="{73378641-98C0-74B8-EDAB-E5E4E2EEB661}"/>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A68AF4A5-1947-70D5-1EEC-327485090E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2023423665"/>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F4ED06-AD2C-D93C-110D-539CAC0B06B6}"/>
              </a:ext>
            </a:extLst>
          </p:cNvPr>
          <p:cNvSpPr>
            <a:spLocks noGrp="1"/>
          </p:cNvSpPr>
          <p:nvPr>
            <p:ph type="title"/>
          </p:nvPr>
        </p:nvSpPr>
        <p:spPr>
          <a:xfrm>
            <a:off x="1252431" y="1819513"/>
            <a:ext cx="15778269" cy="2400657"/>
          </a:xfrm>
        </p:spPr>
        <p:txBody>
          <a:bodyPr/>
          <a:lstStyle/>
          <a:p>
            <a:r>
              <a:rPr lang="en-US" dirty="0">
                <a:latin typeface="Anova Bold"/>
              </a:rPr>
              <a:t>Traffic Flow Simulation: Roundabouts vs. Signals</a:t>
            </a:r>
          </a:p>
        </p:txBody>
      </p:sp>
      <p:sp>
        <p:nvSpPr>
          <p:cNvPr id="5" name="Text Placeholder 4">
            <a:extLst>
              <a:ext uri="{FF2B5EF4-FFF2-40B4-BE49-F238E27FC236}">
                <a16:creationId xmlns:a16="http://schemas.microsoft.com/office/drawing/2014/main" id="{DC47E997-8B05-0C7D-0CCB-995182C76E77}"/>
              </a:ext>
            </a:extLst>
          </p:cNvPr>
          <p:cNvSpPr>
            <a:spLocks noGrp="1"/>
          </p:cNvSpPr>
          <p:nvPr>
            <p:ph type="body" sz="quarter" idx="10"/>
          </p:nvPr>
        </p:nvSpPr>
        <p:spPr/>
        <p:txBody>
          <a:bodyPr/>
          <a:lstStyle/>
          <a:p>
            <a:r>
              <a:rPr lang="en-US"/>
              <a:t>Internship 2026</a:t>
            </a:r>
            <a:endParaRPr lang="en-US" dirty="0"/>
          </a:p>
          <a:p>
            <a:endParaRPr lang="en-US" dirty="0"/>
          </a:p>
        </p:txBody>
      </p:sp>
      <p:sp>
        <p:nvSpPr>
          <p:cNvPr id="6" name="Text Placeholder 5">
            <a:extLst>
              <a:ext uri="{FF2B5EF4-FFF2-40B4-BE49-F238E27FC236}">
                <a16:creationId xmlns:a16="http://schemas.microsoft.com/office/drawing/2014/main" id="{AF2BF1EE-1390-2937-A6D4-B8627C092DE1}"/>
              </a:ext>
            </a:extLst>
          </p:cNvPr>
          <p:cNvSpPr>
            <a:spLocks noGrp="1"/>
          </p:cNvSpPr>
          <p:nvPr>
            <p:ph type="body" sz="quarter" idx="11"/>
          </p:nvPr>
        </p:nvSpPr>
        <p:spPr/>
        <p:txBody>
          <a:bodyPr/>
          <a:lstStyle/>
          <a:p>
            <a:r>
              <a:rPr lang="en-US" dirty="0"/>
              <a:t>Customer Intelligence</a:t>
            </a:r>
          </a:p>
          <a:p>
            <a:endParaRPr lang="en-US" dirty="0"/>
          </a:p>
        </p:txBody>
      </p:sp>
    </p:spTree>
    <p:custDataLst>
      <p:tags r:id="rId1"/>
    </p:custDataLst>
    <p:extLst>
      <p:ext uri="{BB962C8B-B14F-4D97-AF65-F5344CB8AC3E}">
        <p14:creationId xmlns:p14="http://schemas.microsoft.com/office/powerpoint/2010/main" val="68083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F588-3B68-EBBB-7118-093B96746A63}"/>
              </a:ext>
            </a:extLst>
          </p:cNvPr>
          <p:cNvSpPr>
            <a:spLocks noGrp="1"/>
          </p:cNvSpPr>
          <p:nvPr>
            <p:ph type="title"/>
          </p:nvPr>
        </p:nvSpPr>
        <p:spPr/>
        <p:txBody>
          <a:bodyPr>
            <a:normAutofit fontScale="90000"/>
          </a:bodyPr>
          <a:lstStyle/>
          <a:p>
            <a:r>
              <a:rPr lang="en-US" dirty="0"/>
              <a:t>Traffic Flow Simulation: Roundabouts vs. Signals</a:t>
            </a:r>
            <a:br>
              <a:rPr lang="en-US" dirty="0"/>
            </a:br>
            <a:endParaRPr lang="en-US" dirty="0"/>
          </a:p>
        </p:txBody>
      </p:sp>
      <p:sp>
        <p:nvSpPr>
          <p:cNvPr id="3" name="Content Placeholder 2">
            <a:extLst>
              <a:ext uri="{FF2B5EF4-FFF2-40B4-BE49-F238E27FC236}">
                <a16:creationId xmlns:a16="http://schemas.microsoft.com/office/drawing/2014/main" id="{2B7B21A6-80DC-1F6D-9A59-74B5CD24B55B}"/>
              </a:ext>
            </a:extLst>
          </p:cNvPr>
          <p:cNvSpPr>
            <a:spLocks noGrp="1"/>
          </p:cNvSpPr>
          <p:nvPr>
            <p:ph idx="1"/>
          </p:nvPr>
        </p:nvSpPr>
        <p:spPr/>
        <p:txBody>
          <a:bodyPr/>
          <a:lstStyle/>
          <a:p>
            <a:pPr marL="0" indent="0">
              <a:buNone/>
            </a:pPr>
            <a:r>
              <a:rPr lang="en-US" dirty="0"/>
              <a:t>While traffic signals are a norm in controlling urban traffic, sometimes they are ill-suited for regulating the natural flow of traffic. There have been experiments in the past to substitute traffic signals with roundabouts and this has led to better traffic flows which is also self managed and reduced the fatalities related to accidents. While the preference for either is not the scope of this project, the idea is to create the capability to simulate real life traffic flows and experiment with different options</a:t>
            </a:r>
          </a:p>
        </p:txBody>
      </p:sp>
      <p:sp>
        <p:nvSpPr>
          <p:cNvPr id="4" name="Text Placeholder 3">
            <a:extLst>
              <a:ext uri="{FF2B5EF4-FFF2-40B4-BE49-F238E27FC236}">
                <a16:creationId xmlns:a16="http://schemas.microsoft.com/office/drawing/2014/main" id="{80BB4F70-675D-22AB-44B7-5C09E2842B5B}"/>
              </a:ext>
            </a:extLst>
          </p:cNvPr>
          <p:cNvSpPr>
            <a:spLocks noGrp="1"/>
          </p:cNvSpPr>
          <p:nvPr>
            <p:ph type="body" sz="quarter" idx="10"/>
          </p:nvPr>
        </p:nvSpPr>
        <p:spPr/>
        <p:txBody>
          <a:bodyPr/>
          <a:lstStyle/>
          <a:p>
            <a:r>
              <a:rPr lang="en-US" b="1" dirty="0"/>
              <a:t>Background</a:t>
            </a:r>
          </a:p>
        </p:txBody>
      </p:sp>
    </p:spTree>
    <p:extLst>
      <p:ext uri="{BB962C8B-B14F-4D97-AF65-F5344CB8AC3E}">
        <p14:creationId xmlns:p14="http://schemas.microsoft.com/office/powerpoint/2010/main" val="3276242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27858-ECEA-BB0D-4B26-2C3F83038F98}"/>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73D3A5D6-0804-C068-94AA-E63F2EE31EE0}"/>
              </a:ext>
            </a:extLst>
          </p:cNvPr>
          <p:cNvSpPr>
            <a:spLocks noGrp="1"/>
          </p:cNvSpPr>
          <p:nvPr>
            <p:ph idx="1"/>
          </p:nvPr>
        </p:nvSpPr>
        <p:spPr/>
        <p:txBody>
          <a:bodyPr/>
          <a:lstStyle/>
          <a:p>
            <a:r>
              <a:rPr lang="en-US" dirty="0"/>
              <a:t>The goal of this project is to develop a traffic simulation software that compares the efficiency and effectiveness of roundabouts and traditional traffic signals in managing urban traffic flow. This simulation aims to provide insights into traffic dynamics, safety, and environmental impacts associated with each design.</a:t>
            </a:r>
            <a:endParaRPr lang="en-IN" dirty="0"/>
          </a:p>
        </p:txBody>
      </p:sp>
      <p:sp>
        <p:nvSpPr>
          <p:cNvPr id="4" name="Text Placeholder 3">
            <a:extLst>
              <a:ext uri="{FF2B5EF4-FFF2-40B4-BE49-F238E27FC236}">
                <a16:creationId xmlns:a16="http://schemas.microsoft.com/office/drawing/2014/main" id="{5A7DF37A-9B5C-D940-C28C-9D3193291883}"/>
              </a:ext>
            </a:extLst>
          </p:cNvPr>
          <p:cNvSpPr>
            <a:spLocks noGrp="1"/>
          </p:cNvSpPr>
          <p:nvPr>
            <p:ph type="body" sz="quarter" idx="10"/>
          </p:nvPr>
        </p:nvSpPr>
        <p:spPr/>
        <p:txBody>
          <a:bodyPr/>
          <a:lstStyle/>
          <a:p>
            <a:r>
              <a:rPr lang="en-US" dirty="0"/>
              <a:t>Objective</a:t>
            </a:r>
            <a:endParaRPr lang="en-IN" dirty="0"/>
          </a:p>
        </p:txBody>
      </p:sp>
    </p:spTree>
    <p:extLst>
      <p:ext uri="{BB962C8B-B14F-4D97-AF65-F5344CB8AC3E}">
        <p14:creationId xmlns:p14="http://schemas.microsoft.com/office/powerpoint/2010/main" val="453683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FD7B-D602-0A94-F81B-603CDC14C4E5}"/>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C27C2F28-4178-B343-FD82-16E9EBF8CEE5}"/>
              </a:ext>
            </a:extLst>
          </p:cNvPr>
          <p:cNvSpPr>
            <a:spLocks noGrp="1"/>
          </p:cNvSpPr>
          <p:nvPr>
            <p:ph idx="1"/>
          </p:nvPr>
        </p:nvSpPr>
        <p:spPr/>
        <p:txBody>
          <a:bodyPr>
            <a:normAutofit fontScale="92500" lnSpcReduction="10000"/>
          </a:bodyPr>
          <a:lstStyle/>
          <a:p>
            <a:r>
              <a:rPr lang="en-US" dirty="0"/>
              <a:t>Simulation Environment:</a:t>
            </a:r>
          </a:p>
          <a:p>
            <a:pPr lvl="1"/>
            <a:r>
              <a:rPr lang="en-US" dirty="0"/>
              <a:t>	A visual interface to simulate an intersection, allowing users use various combination of roundabouts and traffic signals.</a:t>
            </a:r>
          </a:p>
          <a:p>
            <a:r>
              <a:rPr lang="en-US" dirty="0"/>
              <a:t>Vehicle Behavior Modeling:</a:t>
            </a:r>
          </a:p>
          <a:p>
            <a:pPr lvl="1"/>
            <a:r>
              <a:rPr lang="en-US" dirty="0"/>
              <a:t>Implementation of basic driving behaviors for different vehicle types, including acceleration, deceleration, and lane changes.</a:t>
            </a:r>
          </a:p>
          <a:p>
            <a:r>
              <a:rPr lang="en-US" dirty="0"/>
              <a:t>Traffic Management:</a:t>
            </a:r>
          </a:p>
          <a:p>
            <a:pPr lvl="1"/>
            <a:r>
              <a:rPr lang="en-US" dirty="0"/>
              <a:t>Fixed-time traffic signals with customizable cycles and roundabout yielding behavior.</a:t>
            </a:r>
          </a:p>
          <a:p>
            <a:r>
              <a:rPr lang="en-US" dirty="0"/>
              <a:t>Data Collection and Analysis:</a:t>
            </a:r>
          </a:p>
          <a:p>
            <a:pPr lvl="1"/>
            <a:r>
              <a:rPr lang="en-US" dirty="0"/>
              <a:t>Metrics such as average wait time, number of stops, and congestion levels will be recorded for comparison.</a:t>
            </a:r>
          </a:p>
          <a:p>
            <a:r>
              <a:rPr lang="en-US" dirty="0"/>
              <a:t>Visual Analytics:</a:t>
            </a:r>
          </a:p>
          <a:p>
            <a:pPr lvl="1"/>
            <a:r>
              <a:rPr lang="en-US" dirty="0"/>
              <a:t>Graphical representation of data to illustrate differences in performance </a:t>
            </a:r>
            <a:r>
              <a:rPr lang="en-US"/>
              <a:t>between different </a:t>
            </a:r>
            <a:r>
              <a:rPr lang="en-US" dirty="0"/>
              <a:t>traffic management systems.</a:t>
            </a:r>
          </a:p>
          <a:p>
            <a:pPr marL="0" indent="0">
              <a:buNone/>
            </a:pPr>
            <a:r>
              <a:rPr lang="en-IN" sz="1700" dirty="0"/>
              <a:t>       				 </a:t>
            </a:r>
            <a:r>
              <a:rPr lang="en-IN" sz="2200" dirty="0"/>
              <a:t>*Scope can be increased or reduced based on timelines and other factors</a:t>
            </a:r>
          </a:p>
        </p:txBody>
      </p:sp>
      <p:sp>
        <p:nvSpPr>
          <p:cNvPr id="4" name="Text Placeholder 3">
            <a:extLst>
              <a:ext uri="{FF2B5EF4-FFF2-40B4-BE49-F238E27FC236}">
                <a16:creationId xmlns:a16="http://schemas.microsoft.com/office/drawing/2014/main" id="{CFE2E62E-8397-159A-67A3-C314F5668816}"/>
              </a:ext>
            </a:extLst>
          </p:cNvPr>
          <p:cNvSpPr>
            <a:spLocks noGrp="1"/>
          </p:cNvSpPr>
          <p:nvPr>
            <p:ph type="body" sz="quarter" idx="10"/>
          </p:nvPr>
        </p:nvSpPr>
        <p:spPr/>
        <p:txBody>
          <a:bodyPr/>
          <a:lstStyle/>
          <a:p>
            <a:r>
              <a:rPr lang="en-IN" dirty="0"/>
              <a:t>Key Features:*</a:t>
            </a:r>
          </a:p>
        </p:txBody>
      </p:sp>
    </p:spTree>
    <p:extLst>
      <p:ext uri="{BB962C8B-B14F-4D97-AF65-F5344CB8AC3E}">
        <p14:creationId xmlns:p14="http://schemas.microsoft.com/office/powerpoint/2010/main" val="344771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B639-BDC5-B9AC-E9A3-0EC9DC94AC93}"/>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D8582423-A1F1-56DF-E0D0-DB40353EB90E}"/>
              </a:ext>
            </a:extLst>
          </p:cNvPr>
          <p:cNvSpPr>
            <a:spLocks noGrp="1"/>
          </p:cNvSpPr>
          <p:nvPr>
            <p:ph idx="1"/>
          </p:nvPr>
        </p:nvSpPr>
        <p:spPr/>
        <p:txBody>
          <a:bodyPr>
            <a:normAutofit/>
          </a:bodyPr>
          <a:lstStyle/>
          <a:p>
            <a:r>
              <a:rPr lang="en-IN" dirty="0"/>
              <a:t>Programming Language: </a:t>
            </a:r>
          </a:p>
          <a:p>
            <a:pPr lvl="1"/>
            <a:r>
              <a:rPr lang="en-IN" dirty="0"/>
              <a:t>Python or JavaScript for simulation development.</a:t>
            </a:r>
          </a:p>
          <a:p>
            <a:r>
              <a:rPr lang="en-IN" dirty="0"/>
              <a:t>Visualization Libraries:</a:t>
            </a:r>
          </a:p>
          <a:p>
            <a:pPr lvl="1"/>
            <a:r>
              <a:rPr lang="en-IN" dirty="0"/>
              <a:t> </a:t>
            </a:r>
            <a:r>
              <a:rPr lang="en-IN" dirty="0" err="1"/>
              <a:t>Pygame</a:t>
            </a:r>
            <a:r>
              <a:rPr lang="en-IN" dirty="0"/>
              <a:t> or Three.js for graphics; Matplotlib or D3.js for data representation.</a:t>
            </a:r>
          </a:p>
          <a:p>
            <a:pPr marL="731520" lvl="2" indent="0">
              <a:buNone/>
            </a:pPr>
            <a:r>
              <a:rPr lang="en-IN" sz="1800" dirty="0"/>
              <a:t>			</a:t>
            </a:r>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r>
              <a:rPr lang="en-IN" sz="1800" dirty="0"/>
              <a:t>				 </a:t>
            </a:r>
            <a:r>
              <a:rPr lang="en-IN" sz="2400" dirty="0"/>
              <a:t>*Technologies listed here are indicative, can be changed as needed</a:t>
            </a:r>
            <a:endParaRPr lang="en-IN" dirty="0"/>
          </a:p>
        </p:txBody>
      </p:sp>
      <p:sp>
        <p:nvSpPr>
          <p:cNvPr id="4" name="Text Placeholder 3">
            <a:extLst>
              <a:ext uri="{FF2B5EF4-FFF2-40B4-BE49-F238E27FC236}">
                <a16:creationId xmlns:a16="http://schemas.microsoft.com/office/drawing/2014/main" id="{5DFF019B-17D9-CB8F-1BB1-B2BD3BA4FFF5}"/>
              </a:ext>
            </a:extLst>
          </p:cNvPr>
          <p:cNvSpPr>
            <a:spLocks noGrp="1"/>
          </p:cNvSpPr>
          <p:nvPr>
            <p:ph type="body" sz="quarter" idx="10"/>
          </p:nvPr>
        </p:nvSpPr>
        <p:spPr/>
        <p:txBody>
          <a:bodyPr/>
          <a:lstStyle/>
          <a:p>
            <a:r>
              <a:rPr lang="en-IN" dirty="0"/>
              <a:t>Technologies*</a:t>
            </a:r>
          </a:p>
        </p:txBody>
      </p:sp>
    </p:spTree>
    <p:extLst>
      <p:ext uri="{BB962C8B-B14F-4D97-AF65-F5344CB8AC3E}">
        <p14:creationId xmlns:p14="http://schemas.microsoft.com/office/powerpoint/2010/main" val="75942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3169B-E579-AE25-66CA-F33F645ACD0F}"/>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FE32EE65-B1F6-98E1-C163-702C7AEB4B49}"/>
              </a:ext>
            </a:extLst>
          </p:cNvPr>
          <p:cNvSpPr>
            <a:spLocks noGrp="1"/>
          </p:cNvSpPr>
          <p:nvPr>
            <p:ph idx="1"/>
          </p:nvPr>
        </p:nvSpPr>
        <p:spPr/>
        <p:txBody>
          <a:bodyPr>
            <a:normAutofit/>
          </a:bodyPr>
          <a:lstStyle/>
          <a:p>
            <a:r>
              <a:rPr lang="en-IN" dirty="0"/>
              <a:t>Successful Implementations</a:t>
            </a:r>
          </a:p>
          <a:p>
            <a:pPr lvl="1"/>
            <a:r>
              <a:rPr lang="en-US" b="1" dirty="0"/>
              <a:t>Tucson, Arizona</a:t>
            </a:r>
            <a:endParaRPr lang="en-US" dirty="0"/>
          </a:p>
          <a:p>
            <a:pPr lvl="2"/>
            <a:r>
              <a:rPr lang="en-US" dirty="0"/>
              <a:t>Tucson has successfully implemented multiple roundabouts, notably the roundabout at the intersection of Campbell Avenue and Grant Road. This installation improved traffic flow and reduced accident rates significantly.</a:t>
            </a:r>
          </a:p>
          <a:p>
            <a:pPr lvl="1"/>
            <a:r>
              <a:rPr lang="en-US" b="1" dirty="0"/>
              <a:t>McKinney, Texas</a:t>
            </a:r>
            <a:endParaRPr lang="en-US" dirty="0"/>
          </a:p>
          <a:p>
            <a:pPr lvl="2"/>
            <a:r>
              <a:rPr lang="en-US" dirty="0"/>
              <a:t>The city of McKinney constructed several roundabouts, including one at the intersection of Virginia Parkway and Ridge Road. These roundabouts led to decreased travel times and improved safety, becoming a model for future developments.</a:t>
            </a:r>
          </a:p>
          <a:p>
            <a:pPr lvl="1"/>
            <a:r>
              <a:rPr lang="en-US" b="1" dirty="0"/>
              <a:t>Dover, England</a:t>
            </a:r>
            <a:endParaRPr lang="en-US" dirty="0"/>
          </a:p>
          <a:p>
            <a:pPr lvl="2"/>
            <a:r>
              <a:rPr lang="en-US" dirty="0"/>
              <a:t>The town of Dover transformed its road network by replacing traffic signals with roundabouts. This initiative resulted in a 40% reduction in accidents and increased traffic efficiency, showcasing the effectiveness of roundabouts in urban planning.</a:t>
            </a:r>
            <a:endParaRPr lang="en-IN" dirty="0"/>
          </a:p>
        </p:txBody>
      </p:sp>
      <p:sp>
        <p:nvSpPr>
          <p:cNvPr id="4" name="Text Placeholder 3">
            <a:extLst>
              <a:ext uri="{FF2B5EF4-FFF2-40B4-BE49-F238E27FC236}">
                <a16:creationId xmlns:a16="http://schemas.microsoft.com/office/drawing/2014/main" id="{523C915C-E58A-762B-E140-9CB50F254150}"/>
              </a:ext>
            </a:extLst>
          </p:cNvPr>
          <p:cNvSpPr>
            <a:spLocks noGrp="1"/>
          </p:cNvSpPr>
          <p:nvPr>
            <p:ph type="body" sz="quarter" idx="10"/>
          </p:nvPr>
        </p:nvSpPr>
        <p:spPr/>
        <p:txBody>
          <a:bodyPr/>
          <a:lstStyle/>
          <a:p>
            <a:r>
              <a:rPr lang="en-US" dirty="0"/>
              <a:t>Additional notes</a:t>
            </a:r>
            <a:endParaRPr lang="en-IN" dirty="0"/>
          </a:p>
        </p:txBody>
      </p:sp>
    </p:spTree>
    <p:extLst>
      <p:ext uri="{BB962C8B-B14F-4D97-AF65-F5344CB8AC3E}">
        <p14:creationId xmlns:p14="http://schemas.microsoft.com/office/powerpoint/2010/main" val="1583504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EB4FA-1C00-4FBA-FDE9-80602BA66203}"/>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F1BE7063-1BE2-88AA-1F22-26BCC4CC4334}"/>
              </a:ext>
            </a:extLst>
          </p:cNvPr>
          <p:cNvSpPr>
            <a:spLocks noGrp="1"/>
          </p:cNvSpPr>
          <p:nvPr>
            <p:ph idx="1"/>
          </p:nvPr>
        </p:nvSpPr>
        <p:spPr/>
        <p:txBody>
          <a:bodyPr/>
          <a:lstStyle/>
          <a:p>
            <a:pPr marL="0" indent="0">
              <a:buNone/>
            </a:pPr>
            <a:r>
              <a:rPr lang="en-US" dirty="0"/>
              <a:t>The goal is not to determine which of the above options is better but to evaluation different conditions and combinations for optimal traffic flow. Some variations include:</a:t>
            </a:r>
          </a:p>
          <a:p>
            <a:r>
              <a:rPr lang="en-IN" dirty="0"/>
              <a:t>Hybrid Roundabout</a:t>
            </a:r>
            <a:endParaRPr lang="en-US" dirty="0"/>
          </a:p>
          <a:p>
            <a:pPr lvl="1"/>
            <a:r>
              <a:rPr lang="en-US" dirty="0"/>
              <a:t>Combines elements of roundabouts with other intersection designs, such as traffic signals or pedestrian crossings, to improve safety and efficiency.</a:t>
            </a:r>
          </a:p>
          <a:p>
            <a:r>
              <a:rPr lang="en-IN" dirty="0"/>
              <a:t>Signalized Roundabout</a:t>
            </a:r>
            <a:endParaRPr lang="en-US" dirty="0"/>
          </a:p>
          <a:p>
            <a:pPr lvl="1"/>
            <a:r>
              <a:rPr lang="en-US" dirty="0"/>
              <a:t>Integrates traffic signals at certain entry points or within the roundabout itself, allowing for controlled flow during peak times.</a:t>
            </a:r>
          </a:p>
          <a:p>
            <a:pPr lvl="1"/>
            <a:endParaRPr lang="en-IN" dirty="0"/>
          </a:p>
        </p:txBody>
      </p:sp>
      <p:sp>
        <p:nvSpPr>
          <p:cNvPr id="4" name="Text Placeholder 3">
            <a:extLst>
              <a:ext uri="{FF2B5EF4-FFF2-40B4-BE49-F238E27FC236}">
                <a16:creationId xmlns:a16="http://schemas.microsoft.com/office/drawing/2014/main" id="{716F447E-BB2A-66A1-E7AC-B4DAD682DF72}"/>
              </a:ext>
            </a:extLst>
          </p:cNvPr>
          <p:cNvSpPr>
            <a:spLocks noGrp="1"/>
          </p:cNvSpPr>
          <p:nvPr>
            <p:ph type="body" sz="quarter" idx="10"/>
          </p:nvPr>
        </p:nvSpPr>
        <p:spPr/>
        <p:txBody>
          <a:bodyPr/>
          <a:lstStyle/>
          <a:p>
            <a:r>
              <a:rPr lang="en-US" dirty="0"/>
              <a:t>Variations of roundabouts</a:t>
            </a:r>
            <a:endParaRPr lang="en-IN" dirty="0"/>
          </a:p>
        </p:txBody>
      </p:sp>
    </p:spTree>
    <p:extLst>
      <p:ext uri="{BB962C8B-B14F-4D97-AF65-F5344CB8AC3E}">
        <p14:creationId xmlns:p14="http://schemas.microsoft.com/office/powerpoint/2010/main" val="125339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25B6D-BD63-0559-B60C-B6ADB5BE8F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5819CB-3408-D3D2-18EB-F3CFF3087870}"/>
              </a:ext>
            </a:extLst>
          </p:cNvPr>
          <p:cNvSpPr>
            <a:spLocks noGrp="1"/>
          </p:cNvSpPr>
          <p:nvPr>
            <p:ph type="title"/>
          </p:nvPr>
        </p:nvSpPr>
        <p:spPr>
          <a:xfrm>
            <a:off x="1252431" y="2927508"/>
            <a:ext cx="15778269" cy="1292662"/>
          </a:xfrm>
        </p:spPr>
        <p:txBody>
          <a:bodyPr/>
          <a:lstStyle/>
          <a:p>
            <a:r>
              <a:rPr lang="en-US" dirty="0">
                <a:latin typeface="Anova Bold"/>
              </a:rPr>
              <a:t>Proposed Solution</a:t>
            </a:r>
          </a:p>
        </p:txBody>
      </p:sp>
      <p:sp>
        <p:nvSpPr>
          <p:cNvPr id="5" name="Text Placeholder 4">
            <a:extLst>
              <a:ext uri="{FF2B5EF4-FFF2-40B4-BE49-F238E27FC236}">
                <a16:creationId xmlns:a16="http://schemas.microsoft.com/office/drawing/2014/main" id="{908F686A-67AF-F710-33AA-FB062F52B5FE}"/>
              </a:ext>
            </a:extLst>
          </p:cNvPr>
          <p:cNvSpPr>
            <a:spLocks noGrp="1"/>
          </p:cNvSpPr>
          <p:nvPr>
            <p:ph type="body" sz="quarter" idx="10"/>
          </p:nvPr>
        </p:nvSpPr>
        <p:spPr/>
        <p:txBody>
          <a:bodyPr/>
          <a:lstStyle/>
          <a:p>
            <a:r>
              <a:rPr lang="en-US" dirty="0">
                <a:latin typeface="Anova Bold"/>
              </a:rPr>
              <a:t>Traffic Flow Simulation: Roundabouts vs. Signals</a:t>
            </a:r>
            <a:endParaRPr lang="en-US" dirty="0"/>
          </a:p>
        </p:txBody>
      </p:sp>
      <p:sp>
        <p:nvSpPr>
          <p:cNvPr id="6" name="Text Placeholder 5">
            <a:extLst>
              <a:ext uri="{FF2B5EF4-FFF2-40B4-BE49-F238E27FC236}">
                <a16:creationId xmlns:a16="http://schemas.microsoft.com/office/drawing/2014/main" id="{9FF6A5D6-051A-1C23-F35E-6EBF860736AE}"/>
              </a:ext>
            </a:extLst>
          </p:cNvPr>
          <p:cNvSpPr>
            <a:spLocks noGrp="1"/>
          </p:cNvSpPr>
          <p:nvPr>
            <p:ph type="body" sz="quarter" idx="11"/>
          </p:nvPr>
        </p:nvSpPr>
        <p:spPr/>
        <p:txBody>
          <a:bodyPr/>
          <a:lstStyle/>
          <a:p>
            <a:r>
              <a:rPr lang="en-US" dirty="0"/>
              <a:t>Customer Intelligence</a:t>
            </a:r>
          </a:p>
          <a:p>
            <a:endParaRPr lang="en-US" dirty="0"/>
          </a:p>
        </p:txBody>
      </p:sp>
    </p:spTree>
    <p:custDataLst>
      <p:tags r:id="rId1"/>
    </p:custDataLst>
    <p:extLst>
      <p:ext uri="{BB962C8B-B14F-4D97-AF65-F5344CB8AC3E}">
        <p14:creationId xmlns:p14="http://schemas.microsoft.com/office/powerpoint/2010/main" val="1072162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480B-1224-5A1B-C4CB-C8EFF3639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38EEF-3E26-F3EE-B132-61BD961B6134}"/>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graphicFrame>
        <p:nvGraphicFramePr>
          <p:cNvPr id="7" name="Content Placeholder 6">
            <a:extLst>
              <a:ext uri="{FF2B5EF4-FFF2-40B4-BE49-F238E27FC236}">
                <a16:creationId xmlns:a16="http://schemas.microsoft.com/office/drawing/2014/main" id="{7CB89BB7-ABD2-7877-B799-56A12A43F7F8}"/>
              </a:ext>
            </a:extLst>
          </p:cNvPr>
          <p:cNvGraphicFramePr>
            <a:graphicFrameLocks noGrp="1"/>
          </p:cNvGraphicFramePr>
          <p:nvPr>
            <p:ph idx="1"/>
            <p:extLst>
              <p:ext uri="{D42A27DB-BD31-4B8C-83A1-F6EECF244321}">
                <p14:modId xmlns:p14="http://schemas.microsoft.com/office/powerpoint/2010/main" val="3262250486"/>
              </p:ext>
            </p:extLst>
          </p:nvPr>
        </p:nvGraphicFramePr>
        <p:xfrm>
          <a:off x="1252432" y="2187682"/>
          <a:ext cx="15773400" cy="7278548"/>
        </p:xfrm>
        <a:graphic>
          <a:graphicData uri="http://schemas.openxmlformats.org/drawingml/2006/table">
            <a:tbl>
              <a:tblPr/>
              <a:tblGrid>
                <a:gridCol w="15773400">
                  <a:extLst>
                    <a:ext uri="{9D8B030D-6E8A-4147-A177-3AD203B41FA5}">
                      <a16:colId xmlns:a16="http://schemas.microsoft.com/office/drawing/2014/main" val="2534754469"/>
                    </a:ext>
                  </a:extLst>
                </a:gridCol>
              </a:tblGrid>
              <a:tr h="5582181">
                <a:tc>
                  <a:txBody>
                    <a:bodyPr/>
                    <a:lstStyle/>
                    <a:p>
                      <a:pPr fontAlgn="t">
                        <a:lnSpc>
                          <a:spcPct val="150000"/>
                        </a:lnSpc>
                        <a:buNone/>
                      </a:pPr>
                      <a:r>
                        <a:rPr lang="en-IN" sz="2800" b="0" i="0" dirty="0">
                          <a:effectLst/>
                          <a:latin typeface="+mn-lt"/>
                        </a:rPr>
                        <a:t>A web-based traffic simulation platform that:</a:t>
                      </a:r>
                    </a:p>
                    <a:p>
                      <a:pPr fontAlgn="t">
                        <a:lnSpc>
                          <a:spcPct val="150000"/>
                        </a:lnSpc>
                        <a:buFont typeface="Arial" panose="020B0604020202020204" pitchFamily="34" charset="0"/>
                        <a:buChar char="•"/>
                      </a:pPr>
                      <a:r>
                        <a:rPr lang="en-IN" sz="2800" b="0" i="0" dirty="0">
                          <a:effectLst/>
                          <a:latin typeface="+mn-lt"/>
                        </a:rPr>
                        <a:t>Simulates a single urban intersection.</a:t>
                      </a:r>
                    </a:p>
                    <a:p>
                      <a:pPr fontAlgn="t">
                        <a:lnSpc>
                          <a:spcPct val="150000"/>
                        </a:lnSpc>
                        <a:buFont typeface="Arial" panose="020B0604020202020204" pitchFamily="34" charset="0"/>
                        <a:buChar char="•"/>
                      </a:pPr>
                      <a:r>
                        <a:rPr lang="en-IN" sz="2800" b="0" i="0" dirty="0">
                          <a:effectLst/>
                          <a:latin typeface="+mn-lt"/>
                        </a:rPr>
                        <a:t>Supports: </a:t>
                      </a:r>
                    </a:p>
                    <a:p>
                      <a:pPr marL="742950" lvl="1" indent="-285750" fontAlgn="t">
                        <a:lnSpc>
                          <a:spcPct val="150000"/>
                        </a:lnSpc>
                        <a:buFont typeface="Arial" panose="020B0604020202020204" pitchFamily="34" charset="0"/>
                        <a:buChar char="•"/>
                      </a:pPr>
                      <a:r>
                        <a:rPr lang="en-IN" sz="2800" b="0" i="0" dirty="0">
                          <a:effectLst/>
                          <a:latin typeface="+mn-lt"/>
                        </a:rPr>
                        <a:t>Traffic Signals</a:t>
                      </a:r>
                    </a:p>
                    <a:p>
                      <a:pPr marL="742950" lvl="1" indent="-285750" fontAlgn="t">
                        <a:lnSpc>
                          <a:spcPct val="150000"/>
                        </a:lnSpc>
                        <a:buFont typeface="Arial" panose="020B0604020202020204" pitchFamily="34" charset="0"/>
                        <a:buChar char="•"/>
                      </a:pPr>
                      <a:r>
                        <a:rPr lang="en-IN" sz="2800" b="0" i="0" dirty="0">
                          <a:effectLst/>
                          <a:latin typeface="+mn-lt"/>
                        </a:rPr>
                        <a:t>Roundabouts</a:t>
                      </a:r>
                    </a:p>
                    <a:p>
                      <a:pPr marL="742950" lvl="1" indent="-285750" fontAlgn="t">
                        <a:lnSpc>
                          <a:spcPct val="150000"/>
                        </a:lnSpc>
                        <a:buFont typeface="Arial" panose="020B0604020202020204" pitchFamily="34" charset="0"/>
                        <a:buChar char="•"/>
                      </a:pPr>
                      <a:r>
                        <a:rPr lang="en-IN" sz="2800" b="0" i="0" dirty="0">
                          <a:effectLst/>
                          <a:latin typeface="+mn-lt"/>
                        </a:rPr>
                        <a:t>Hybrid Intersections</a:t>
                      </a:r>
                    </a:p>
                    <a:p>
                      <a:pPr fontAlgn="t">
                        <a:lnSpc>
                          <a:spcPct val="150000"/>
                        </a:lnSpc>
                        <a:buFont typeface="Arial" panose="020B0604020202020204" pitchFamily="34" charset="0"/>
                        <a:buChar char="•"/>
                      </a:pPr>
                      <a:r>
                        <a:rPr lang="en-IN" sz="2800" b="0" i="0" dirty="0">
                          <a:effectLst/>
                          <a:latin typeface="+mn-lt"/>
                        </a:rPr>
                        <a:t>Allows users to configure traffic conditions.</a:t>
                      </a:r>
                    </a:p>
                    <a:p>
                      <a:pPr fontAlgn="t">
                        <a:lnSpc>
                          <a:spcPct val="150000"/>
                        </a:lnSpc>
                        <a:buFont typeface="Arial" panose="020B0604020202020204" pitchFamily="34" charset="0"/>
                        <a:buChar char="•"/>
                      </a:pPr>
                      <a:r>
                        <a:rPr lang="en-IN" sz="2800" b="0" i="0" dirty="0">
                          <a:effectLst/>
                          <a:latin typeface="+mn-lt"/>
                        </a:rPr>
                        <a:t>Generates visual simulations and performance analytics.</a:t>
                      </a:r>
                    </a:p>
                    <a:p>
                      <a:pPr fontAlgn="t">
                        <a:lnSpc>
                          <a:spcPct val="150000"/>
                        </a:lnSpc>
                        <a:buFont typeface="Arial" panose="020B0604020202020204" pitchFamily="34" charset="0"/>
                        <a:buChar char="•"/>
                      </a:pPr>
                      <a:r>
                        <a:rPr lang="en-IN" sz="2800" b="0" i="0" dirty="0">
                          <a:effectLst/>
                          <a:latin typeface="+mn-lt"/>
                        </a:rPr>
                        <a:t>Provides a transparent recommendation system based on user-defined priorities.</a:t>
                      </a:r>
                    </a:p>
                    <a:p>
                      <a:pPr fontAlgn="t">
                        <a:lnSpc>
                          <a:spcPct val="150000"/>
                        </a:lnSpc>
                        <a:buNone/>
                      </a:pPr>
                      <a:r>
                        <a:rPr lang="en-IN" sz="2800" b="1" i="0" dirty="0">
                          <a:effectLst/>
                          <a:latin typeface="+mn-lt"/>
                        </a:rPr>
                        <a:t>Goal:</a:t>
                      </a:r>
                      <a:r>
                        <a:rPr lang="en-IN" sz="2800" b="0" i="0" dirty="0">
                          <a:effectLst/>
                          <a:latin typeface="+mn-lt"/>
                        </a:rPr>
                        <a:t> Compare solutions, not declare a universal winner.</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960326532"/>
                  </a:ext>
                </a:extLst>
              </a:tr>
              <a:tr h="786308">
                <a:tc>
                  <a:txBody>
                    <a:bodyPr/>
                    <a:lstStyle/>
                    <a:p>
                      <a:pPr>
                        <a:lnSpc>
                          <a:spcPct val="150000"/>
                        </a:lnSpc>
                      </a:pPr>
                      <a:endParaRPr lang="en-IN" sz="2800" dirty="0">
                        <a:latin typeface="+mn-lt"/>
                      </a:endParaRPr>
                    </a:p>
                  </a:txBody>
                  <a:tcPr>
                    <a:lnL w="12700" cmpd="sng">
                      <a:noFill/>
                      <a:prstDash val="solid"/>
                    </a:lnL>
                    <a:lnR w="12700" cmpd="sng">
                      <a:noFill/>
                      <a:prstDash val="solid"/>
                    </a:lnR>
                    <a:lnT w="63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554583287"/>
                  </a:ext>
                </a:extLst>
              </a:tr>
            </a:tbl>
          </a:graphicData>
        </a:graphic>
      </p:graphicFrame>
      <p:sp>
        <p:nvSpPr>
          <p:cNvPr id="4" name="Text Placeholder 3">
            <a:extLst>
              <a:ext uri="{FF2B5EF4-FFF2-40B4-BE49-F238E27FC236}">
                <a16:creationId xmlns:a16="http://schemas.microsoft.com/office/drawing/2014/main" id="{91EA1839-CF07-C9EA-9D03-92B340357BD6}"/>
              </a:ext>
            </a:extLst>
          </p:cNvPr>
          <p:cNvSpPr>
            <a:spLocks noGrp="1"/>
          </p:cNvSpPr>
          <p:nvPr>
            <p:ph type="body" sz="quarter" idx="10"/>
          </p:nvPr>
        </p:nvSpPr>
        <p:spPr/>
        <p:txBody>
          <a:bodyPr/>
          <a:lstStyle/>
          <a:p>
            <a:r>
              <a:rPr lang="en-US" dirty="0"/>
              <a:t>Overview</a:t>
            </a:r>
            <a:endParaRPr lang="en-IN" dirty="0"/>
          </a:p>
        </p:txBody>
      </p:sp>
    </p:spTree>
    <p:extLst>
      <p:ext uri="{BB962C8B-B14F-4D97-AF65-F5344CB8AC3E}">
        <p14:creationId xmlns:p14="http://schemas.microsoft.com/office/powerpoint/2010/main" val="1610886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BC890-FCC7-95F9-1C36-C8A840BCF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8D905-1B4A-8FC0-0416-51C6D3DCF7C0}"/>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graphicFrame>
        <p:nvGraphicFramePr>
          <p:cNvPr id="7" name="Content Placeholder 6">
            <a:extLst>
              <a:ext uri="{FF2B5EF4-FFF2-40B4-BE49-F238E27FC236}">
                <a16:creationId xmlns:a16="http://schemas.microsoft.com/office/drawing/2014/main" id="{804C2FCA-D8A4-15B7-3D42-42920ED5C583}"/>
              </a:ext>
            </a:extLst>
          </p:cNvPr>
          <p:cNvGraphicFramePr>
            <a:graphicFrameLocks noGrp="1"/>
          </p:cNvGraphicFramePr>
          <p:nvPr>
            <p:ph idx="1"/>
            <p:extLst>
              <p:ext uri="{D42A27DB-BD31-4B8C-83A1-F6EECF244321}">
                <p14:modId xmlns:p14="http://schemas.microsoft.com/office/powerpoint/2010/main" val="983028940"/>
              </p:ext>
            </p:extLst>
          </p:nvPr>
        </p:nvGraphicFramePr>
        <p:xfrm>
          <a:off x="1252432" y="2383971"/>
          <a:ext cx="5001411" cy="4592638"/>
        </p:xfrm>
        <a:graphic>
          <a:graphicData uri="http://schemas.openxmlformats.org/drawingml/2006/table">
            <a:tbl>
              <a:tblPr/>
              <a:tblGrid>
                <a:gridCol w="5001411">
                  <a:extLst>
                    <a:ext uri="{9D8B030D-6E8A-4147-A177-3AD203B41FA5}">
                      <a16:colId xmlns:a16="http://schemas.microsoft.com/office/drawing/2014/main" val="2534754469"/>
                    </a:ext>
                  </a:extLst>
                </a:gridCol>
              </a:tblGrid>
              <a:tr h="3517996">
                <a:tc>
                  <a:txBody>
                    <a:bodyPr/>
                    <a:lstStyle/>
                    <a:p>
                      <a:pPr fontAlgn="t">
                        <a:lnSpc>
                          <a:spcPct val="150000"/>
                        </a:lnSpc>
                        <a:buNone/>
                      </a:pPr>
                      <a:r>
                        <a:rPr lang="en-IN" sz="2800" b="1" i="0" dirty="0">
                          <a:effectLst/>
                          <a:latin typeface="+mn-lt"/>
                        </a:rPr>
                        <a:t>Traffic Parameters</a:t>
                      </a:r>
                      <a:endParaRPr lang="en-IN" sz="2800" b="0" i="0" dirty="0">
                        <a:effectLst/>
                        <a:latin typeface="+mn-lt"/>
                      </a:endParaRPr>
                    </a:p>
                    <a:p>
                      <a:pPr fontAlgn="t">
                        <a:lnSpc>
                          <a:spcPct val="150000"/>
                        </a:lnSpc>
                        <a:buFont typeface="Arial" panose="020B0604020202020204" pitchFamily="34" charset="0"/>
                        <a:buChar char="•"/>
                      </a:pPr>
                      <a:r>
                        <a:rPr lang="en-IN" sz="2800" b="0" i="0" dirty="0">
                          <a:effectLst/>
                          <a:latin typeface="+mn-lt"/>
                        </a:rPr>
                        <a:t>Vehicle arrival rates</a:t>
                      </a:r>
                    </a:p>
                    <a:p>
                      <a:pPr fontAlgn="t">
                        <a:lnSpc>
                          <a:spcPct val="150000"/>
                        </a:lnSpc>
                        <a:buFont typeface="Arial" panose="020B0604020202020204" pitchFamily="34" charset="0"/>
                        <a:buChar char="•"/>
                      </a:pPr>
                      <a:r>
                        <a:rPr lang="en-IN" sz="2800" b="0" i="0" dirty="0">
                          <a:effectLst/>
                          <a:latin typeface="+mn-lt"/>
                        </a:rPr>
                        <a:t>Number of lanes</a:t>
                      </a:r>
                    </a:p>
                    <a:p>
                      <a:pPr fontAlgn="t">
                        <a:lnSpc>
                          <a:spcPct val="150000"/>
                        </a:lnSpc>
                        <a:buFont typeface="Arial" panose="020B0604020202020204" pitchFamily="34" charset="0"/>
                        <a:buChar char="•"/>
                      </a:pPr>
                      <a:r>
                        <a:rPr lang="en-IN" sz="2800" b="0" i="0" dirty="0">
                          <a:effectLst/>
                          <a:latin typeface="+mn-lt"/>
                        </a:rPr>
                        <a:t>Signal timing</a:t>
                      </a:r>
                    </a:p>
                    <a:p>
                      <a:pPr fontAlgn="t">
                        <a:lnSpc>
                          <a:spcPct val="150000"/>
                        </a:lnSpc>
                        <a:buFont typeface="Arial" panose="020B0604020202020204" pitchFamily="34" charset="0"/>
                        <a:buChar char="•"/>
                      </a:pPr>
                      <a:r>
                        <a:rPr lang="en-IN" sz="2800" b="0" i="0" dirty="0">
                          <a:effectLst/>
                          <a:latin typeface="+mn-lt"/>
                        </a:rPr>
                        <a:t>Roundabout radius</a:t>
                      </a:r>
                    </a:p>
                    <a:p>
                      <a:pPr fontAlgn="t">
                        <a:lnSpc>
                          <a:spcPct val="150000"/>
                        </a:lnSpc>
                        <a:buFont typeface="Arial" panose="020B0604020202020204" pitchFamily="34" charset="0"/>
                        <a:buChar char="•"/>
                      </a:pPr>
                      <a:r>
                        <a:rPr lang="en-IN" sz="2800" b="0" i="0" dirty="0">
                          <a:effectLst/>
                          <a:latin typeface="+mn-lt"/>
                        </a:rPr>
                        <a:t>Available intersection space</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960326532"/>
                  </a:ext>
                </a:extLst>
              </a:tr>
              <a:tr h="441632">
                <a:tc>
                  <a:txBody>
                    <a:bodyPr/>
                    <a:lstStyle/>
                    <a:p>
                      <a:pPr>
                        <a:lnSpc>
                          <a:spcPct val="150000"/>
                        </a:lnSpc>
                      </a:pPr>
                      <a:endParaRPr lang="en-IN" sz="2800" dirty="0">
                        <a:latin typeface="+mn-lt"/>
                      </a:endParaRPr>
                    </a:p>
                  </a:txBody>
                  <a:tcPr>
                    <a:lnL w="12700" cmpd="sng">
                      <a:noFill/>
                      <a:prstDash val="solid"/>
                    </a:lnL>
                    <a:lnR w="12700" cmpd="sng">
                      <a:noFill/>
                      <a:prstDash val="solid"/>
                    </a:lnR>
                    <a:lnT w="63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554583287"/>
                  </a:ext>
                </a:extLst>
              </a:tr>
            </a:tbl>
          </a:graphicData>
        </a:graphic>
      </p:graphicFrame>
      <p:sp>
        <p:nvSpPr>
          <p:cNvPr id="4" name="Text Placeholder 3">
            <a:extLst>
              <a:ext uri="{FF2B5EF4-FFF2-40B4-BE49-F238E27FC236}">
                <a16:creationId xmlns:a16="http://schemas.microsoft.com/office/drawing/2014/main" id="{047B3976-9D8D-B32C-A977-B47F0061F424}"/>
              </a:ext>
            </a:extLst>
          </p:cNvPr>
          <p:cNvSpPr>
            <a:spLocks noGrp="1"/>
          </p:cNvSpPr>
          <p:nvPr>
            <p:ph type="body" sz="quarter" idx="10"/>
          </p:nvPr>
        </p:nvSpPr>
        <p:spPr/>
        <p:txBody>
          <a:bodyPr/>
          <a:lstStyle/>
          <a:p>
            <a:r>
              <a:rPr lang="en-US" dirty="0"/>
              <a:t>Simulation and Traffic Modelling</a:t>
            </a:r>
            <a:endParaRPr lang="en-IN" dirty="0"/>
          </a:p>
        </p:txBody>
      </p:sp>
      <p:sp>
        <p:nvSpPr>
          <p:cNvPr id="5" name="TextBox 4">
            <a:extLst>
              <a:ext uri="{FF2B5EF4-FFF2-40B4-BE49-F238E27FC236}">
                <a16:creationId xmlns:a16="http://schemas.microsoft.com/office/drawing/2014/main" id="{A1043560-F23D-0967-5A7B-9A39023B1E44}"/>
              </a:ext>
            </a:extLst>
          </p:cNvPr>
          <p:cNvSpPr txBox="1"/>
          <p:nvPr/>
        </p:nvSpPr>
        <p:spPr>
          <a:xfrm>
            <a:off x="6711045" y="2465614"/>
            <a:ext cx="5323114" cy="3877985"/>
          </a:xfrm>
          <a:prstGeom prst="rect">
            <a:avLst/>
          </a:prstGeom>
          <a:noFill/>
        </p:spPr>
        <p:txBody>
          <a:bodyPr wrap="square" lIns="0" tIns="0" rIns="0" bIns="0" rtlCol="0">
            <a:spAutoFit/>
          </a:bodyPr>
          <a:lstStyle/>
          <a:p>
            <a:pPr fontAlgn="t">
              <a:lnSpc>
                <a:spcPct val="150000"/>
              </a:lnSpc>
              <a:buNone/>
            </a:pPr>
            <a:r>
              <a:rPr lang="en-IN" sz="2800" b="1" dirty="0"/>
              <a:t>Vehicle Behaviour</a:t>
            </a:r>
            <a:endParaRPr lang="en-IN" sz="2800" dirty="0"/>
          </a:p>
          <a:p>
            <a:pPr fontAlgn="t">
              <a:lnSpc>
                <a:spcPct val="150000"/>
              </a:lnSpc>
              <a:buFont typeface="Arial" panose="020B0604020202020204" pitchFamily="34" charset="0"/>
              <a:buChar char="•"/>
            </a:pPr>
            <a:r>
              <a:rPr lang="en-IN" sz="2800" dirty="0"/>
              <a:t>Acceleration &amp; deceleration</a:t>
            </a:r>
          </a:p>
          <a:p>
            <a:pPr fontAlgn="t">
              <a:lnSpc>
                <a:spcPct val="150000"/>
              </a:lnSpc>
              <a:buFont typeface="Arial" panose="020B0604020202020204" pitchFamily="34" charset="0"/>
              <a:buChar char="•"/>
            </a:pPr>
            <a:r>
              <a:rPr lang="en-IN" sz="2800" dirty="0"/>
              <a:t>Car-following behaviour</a:t>
            </a:r>
          </a:p>
          <a:p>
            <a:pPr fontAlgn="t">
              <a:lnSpc>
                <a:spcPct val="150000"/>
              </a:lnSpc>
              <a:buFont typeface="Arial" panose="020B0604020202020204" pitchFamily="34" charset="0"/>
              <a:buChar char="•"/>
            </a:pPr>
            <a:r>
              <a:rPr lang="en-IN" sz="2800" dirty="0"/>
              <a:t>Lane-changing logic</a:t>
            </a:r>
          </a:p>
          <a:p>
            <a:pPr fontAlgn="t">
              <a:lnSpc>
                <a:spcPct val="150000"/>
              </a:lnSpc>
              <a:buFont typeface="Arial" panose="020B0604020202020204" pitchFamily="34" charset="0"/>
              <a:buChar char="•"/>
            </a:pPr>
            <a:r>
              <a:rPr lang="en-IN" sz="2800" dirty="0"/>
              <a:t>Signal compliance and yielding rules</a:t>
            </a:r>
          </a:p>
        </p:txBody>
      </p:sp>
      <p:sp>
        <p:nvSpPr>
          <p:cNvPr id="9" name="TextBox 8">
            <a:extLst>
              <a:ext uri="{FF2B5EF4-FFF2-40B4-BE49-F238E27FC236}">
                <a16:creationId xmlns:a16="http://schemas.microsoft.com/office/drawing/2014/main" id="{2DA607E9-D3FF-BBF6-FEAD-1B732E032C9D}"/>
              </a:ext>
            </a:extLst>
          </p:cNvPr>
          <p:cNvSpPr txBox="1"/>
          <p:nvPr/>
        </p:nvSpPr>
        <p:spPr>
          <a:xfrm>
            <a:off x="12491361" y="2383971"/>
            <a:ext cx="4702629" cy="3662541"/>
          </a:xfrm>
          <a:prstGeom prst="rect">
            <a:avLst/>
          </a:prstGeom>
          <a:noFill/>
        </p:spPr>
        <p:txBody>
          <a:bodyPr wrap="square" lIns="0" tIns="0" rIns="0" bIns="0" rtlCol="0">
            <a:spAutoFit/>
          </a:bodyPr>
          <a:lstStyle/>
          <a:p>
            <a:pPr fontAlgn="t">
              <a:lnSpc>
                <a:spcPct val="150000"/>
              </a:lnSpc>
              <a:buNone/>
            </a:pPr>
            <a:r>
              <a:rPr lang="en-IN" sz="2800" b="1" dirty="0"/>
              <a:t>Output</a:t>
            </a:r>
            <a:endParaRPr lang="en-IN" sz="2800" dirty="0"/>
          </a:p>
          <a:p>
            <a:pPr fontAlgn="t">
              <a:lnSpc>
                <a:spcPct val="150000"/>
              </a:lnSpc>
              <a:buFont typeface="Arial" panose="020B0604020202020204" pitchFamily="34" charset="0"/>
              <a:buChar char="•"/>
            </a:pPr>
            <a:r>
              <a:rPr lang="en-IN" sz="2800" dirty="0"/>
              <a:t>Realistic traffic movement snapshots</a:t>
            </a:r>
          </a:p>
          <a:p>
            <a:pPr fontAlgn="t">
              <a:lnSpc>
                <a:spcPct val="150000"/>
              </a:lnSpc>
              <a:buFont typeface="Arial" panose="020B0604020202020204" pitchFamily="34" charset="0"/>
              <a:buChar char="•"/>
            </a:pPr>
            <a:r>
              <a:rPr lang="en-IN" sz="2800" dirty="0"/>
              <a:t>Simulation statistics for analysis</a:t>
            </a:r>
          </a:p>
          <a:p>
            <a:pPr algn="l"/>
            <a:endParaRPr lang="en-IN" sz="2800" dirty="0">
              <a:solidFill>
                <a:schemeClr val="tx1"/>
              </a:solidFill>
            </a:endParaRPr>
          </a:p>
        </p:txBody>
      </p:sp>
    </p:spTree>
    <p:extLst>
      <p:ext uri="{BB962C8B-B14F-4D97-AF65-F5344CB8AC3E}">
        <p14:creationId xmlns:p14="http://schemas.microsoft.com/office/powerpoint/2010/main" val="1187437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529C1-5D49-FE3F-2D23-B17FB3256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75E76-7D94-B168-FDAB-849FE31170BD}"/>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graphicFrame>
        <p:nvGraphicFramePr>
          <p:cNvPr id="7" name="Content Placeholder 6">
            <a:extLst>
              <a:ext uri="{FF2B5EF4-FFF2-40B4-BE49-F238E27FC236}">
                <a16:creationId xmlns:a16="http://schemas.microsoft.com/office/drawing/2014/main" id="{5BE6D56B-ED11-D2B0-A506-7AE68CB0F9F1}"/>
              </a:ext>
            </a:extLst>
          </p:cNvPr>
          <p:cNvGraphicFramePr>
            <a:graphicFrameLocks noGrp="1"/>
          </p:cNvGraphicFramePr>
          <p:nvPr>
            <p:ph idx="1"/>
            <p:extLst>
              <p:ext uri="{D42A27DB-BD31-4B8C-83A1-F6EECF244321}">
                <p14:modId xmlns:p14="http://schemas.microsoft.com/office/powerpoint/2010/main" val="3928492102"/>
              </p:ext>
            </p:extLst>
          </p:nvPr>
        </p:nvGraphicFramePr>
        <p:xfrm>
          <a:off x="1252432" y="2383971"/>
          <a:ext cx="5001411" cy="4178714"/>
        </p:xfrm>
        <a:graphic>
          <a:graphicData uri="http://schemas.openxmlformats.org/drawingml/2006/table">
            <a:tbl>
              <a:tblPr/>
              <a:tblGrid>
                <a:gridCol w="5001411">
                  <a:extLst>
                    <a:ext uri="{9D8B030D-6E8A-4147-A177-3AD203B41FA5}">
                      <a16:colId xmlns:a16="http://schemas.microsoft.com/office/drawing/2014/main" val="2534754469"/>
                    </a:ext>
                  </a:extLst>
                </a:gridCol>
              </a:tblGrid>
              <a:tr h="3517996">
                <a:tc>
                  <a:txBody>
                    <a:bodyPr/>
                    <a:lstStyle/>
                    <a:p>
                      <a:pPr fontAlgn="t">
                        <a:lnSpc>
                          <a:spcPct val="150000"/>
                        </a:lnSpc>
                        <a:buNone/>
                      </a:pPr>
                      <a:endParaRPr lang="en-IN" sz="2800" b="0" i="0" dirty="0">
                        <a:effectLst/>
                        <a:latin typeface="+mn-lt"/>
                      </a:endParaRP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960326532"/>
                  </a:ext>
                </a:extLst>
              </a:tr>
              <a:tr h="441632">
                <a:tc>
                  <a:txBody>
                    <a:bodyPr/>
                    <a:lstStyle/>
                    <a:p>
                      <a:pPr>
                        <a:lnSpc>
                          <a:spcPct val="150000"/>
                        </a:lnSpc>
                      </a:pPr>
                      <a:endParaRPr lang="en-IN" sz="2800" dirty="0">
                        <a:latin typeface="+mn-lt"/>
                      </a:endParaRPr>
                    </a:p>
                  </a:txBody>
                  <a:tcPr>
                    <a:lnL w="12700" cmpd="sng">
                      <a:noFill/>
                      <a:prstDash val="solid"/>
                    </a:lnL>
                    <a:lnR w="12700" cmpd="sng">
                      <a:noFill/>
                      <a:prstDash val="solid"/>
                    </a:lnR>
                    <a:lnT w="63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554583287"/>
                  </a:ext>
                </a:extLst>
              </a:tr>
            </a:tbl>
          </a:graphicData>
        </a:graphic>
      </p:graphicFrame>
      <p:sp>
        <p:nvSpPr>
          <p:cNvPr id="4" name="Text Placeholder 3">
            <a:extLst>
              <a:ext uri="{FF2B5EF4-FFF2-40B4-BE49-F238E27FC236}">
                <a16:creationId xmlns:a16="http://schemas.microsoft.com/office/drawing/2014/main" id="{B03664C5-1C68-7D27-1BBC-A1051E72B48F}"/>
              </a:ext>
            </a:extLst>
          </p:cNvPr>
          <p:cNvSpPr>
            <a:spLocks noGrp="1"/>
          </p:cNvSpPr>
          <p:nvPr>
            <p:ph type="body" sz="quarter" idx="10"/>
          </p:nvPr>
        </p:nvSpPr>
        <p:spPr/>
        <p:txBody>
          <a:bodyPr/>
          <a:lstStyle/>
          <a:p>
            <a:r>
              <a:rPr lang="en-US" dirty="0"/>
              <a:t>System Architecture</a:t>
            </a:r>
            <a:endParaRPr lang="en-IN" dirty="0"/>
          </a:p>
        </p:txBody>
      </p:sp>
      <p:pic>
        <p:nvPicPr>
          <p:cNvPr id="6" name="Picture 5">
            <a:extLst>
              <a:ext uri="{FF2B5EF4-FFF2-40B4-BE49-F238E27FC236}">
                <a16:creationId xmlns:a16="http://schemas.microsoft.com/office/drawing/2014/main" id="{721AFF63-DAF9-74AD-9C19-6F834BAD47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714" y="2111482"/>
            <a:ext cx="10946674" cy="8049025"/>
          </a:xfrm>
          <a:prstGeom prst="rect">
            <a:avLst/>
          </a:prstGeom>
        </p:spPr>
      </p:pic>
    </p:spTree>
    <p:extLst>
      <p:ext uri="{BB962C8B-B14F-4D97-AF65-F5344CB8AC3E}">
        <p14:creationId xmlns:p14="http://schemas.microsoft.com/office/powerpoint/2010/main" val="2818397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7EC89-B431-AD8C-6462-A955B9D78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CAA1E-0583-17B6-A240-141F13CC2037}"/>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graphicFrame>
        <p:nvGraphicFramePr>
          <p:cNvPr id="7" name="Content Placeholder 6">
            <a:extLst>
              <a:ext uri="{FF2B5EF4-FFF2-40B4-BE49-F238E27FC236}">
                <a16:creationId xmlns:a16="http://schemas.microsoft.com/office/drawing/2014/main" id="{E646B9B4-616B-52A6-F8D7-71D56083D730}"/>
              </a:ext>
            </a:extLst>
          </p:cNvPr>
          <p:cNvGraphicFramePr>
            <a:graphicFrameLocks noGrp="1"/>
          </p:cNvGraphicFramePr>
          <p:nvPr>
            <p:ph idx="1"/>
            <p:extLst>
              <p:ext uri="{D42A27DB-BD31-4B8C-83A1-F6EECF244321}">
                <p14:modId xmlns:p14="http://schemas.microsoft.com/office/powerpoint/2010/main" val="2211672732"/>
              </p:ext>
            </p:extLst>
          </p:nvPr>
        </p:nvGraphicFramePr>
        <p:xfrm>
          <a:off x="1252432" y="7550331"/>
          <a:ext cx="15773400" cy="1005840"/>
        </p:xfrm>
        <a:graphic>
          <a:graphicData uri="http://schemas.openxmlformats.org/drawingml/2006/table">
            <a:tbl>
              <a:tblPr/>
              <a:tblGrid>
                <a:gridCol w="15773400">
                  <a:extLst>
                    <a:ext uri="{9D8B030D-6E8A-4147-A177-3AD203B41FA5}">
                      <a16:colId xmlns:a16="http://schemas.microsoft.com/office/drawing/2014/main" val="2534754469"/>
                    </a:ext>
                  </a:extLst>
                </a:gridCol>
              </a:tblGrid>
              <a:tr h="0">
                <a:tc>
                  <a:txBody>
                    <a:bodyPr/>
                    <a:lstStyle/>
                    <a:p>
                      <a:pPr>
                        <a:buNone/>
                      </a:pPr>
                      <a:endParaRPr lang="en-IN" dirty="0"/>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960326532"/>
                  </a:ext>
                </a:extLst>
              </a:tr>
              <a:tr h="0">
                <a:tc>
                  <a:txBody>
                    <a:bodyPr/>
                    <a:lstStyle/>
                    <a:p>
                      <a:pPr>
                        <a:buNone/>
                      </a:pPr>
                      <a:endParaRPr lang="en-IN" dirty="0"/>
                    </a:p>
                  </a:txBody>
                  <a:tcPr anchor="ctr">
                    <a:lnL w="12700" cmpd="sng">
                      <a:noFill/>
                      <a:prstDash val="solid"/>
                    </a:lnL>
                    <a:lnR w="12700" cmpd="sng">
                      <a:noFill/>
                      <a:prstDash val="solid"/>
                    </a:lnR>
                    <a:lnT w="63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554583287"/>
                  </a:ext>
                </a:extLst>
              </a:tr>
            </a:tbl>
          </a:graphicData>
        </a:graphic>
      </p:graphicFrame>
      <p:sp>
        <p:nvSpPr>
          <p:cNvPr id="4" name="Text Placeholder 3">
            <a:extLst>
              <a:ext uri="{FF2B5EF4-FFF2-40B4-BE49-F238E27FC236}">
                <a16:creationId xmlns:a16="http://schemas.microsoft.com/office/drawing/2014/main" id="{E7BBE85C-0559-1248-76E6-40EB0B0D44CF}"/>
              </a:ext>
            </a:extLst>
          </p:cNvPr>
          <p:cNvSpPr>
            <a:spLocks noGrp="1"/>
          </p:cNvSpPr>
          <p:nvPr>
            <p:ph type="body" sz="quarter" idx="10"/>
          </p:nvPr>
        </p:nvSpPr>
        <p:spPr/>
        <p:txBody>
          <a:bodyPr/>
          <a:lstStyle/>
          <a:p>
            <a:r>
              <a:rPr lang="en-US" dirty="0" err="1"/>
              <a:t>TechStack</a:t>
            </a:r>
            <a:endParaRPr lang="en-IN" dirty="0"/>
          </a:p>
        </p:txBody>
      </p:sp>
      <p:graphicFrame>
        <p:nvGraphicFramePr>
          <p:cNvPr id="3" name="Table 2">
            <a:extLst>
              <a:ext uri="{FF2B5EF4-FFF2-40B4-BE49-F238E27FC236}">
                <a16:creationId xmlns:a16="http://schemas.microsoft.com/office/drawing/2014/main" id="{DB68E46F-C1C4-3A2D-B601-37504E95B0A4}"/>
              </a:ext>
            </a:extLst>
          </p:cNvPr>
          <p:cNvGraphicFramePr>
            <a:graphicFrameLocks noGrp="1"/>
          </p:cNvGraphicFramePr>
          <p:nvPr>
            <p:extLst>
              <p:ext uri="{D42A27DB-BD31-4B8C-83A1-F6EECF244321}">
                <p14:modId xmlns:p14="http://schemas.microsoft.com/office/powerpoint/2010/main" val="3298648555"/>
              </p:ext>
            </p:extLst>
          </p:nvPr>
        </p:nvGraphicFramePr>
        <p:xfrm>
          <a:off x="1252432" y="2676451"/>
          <a:ext cx="15773400" cy="5699015"/>
        </p:xfrm>
        <a:graphic>
          <a:graphicData uri="http://schemas.openxmlformats.org/drawingml/2006/table">
            <a:tbl>
              <a:tblPr>
                <a:tableStyleId>{125E5076-3810-47DD-B79F-674D7AD40C01}</a:tableStyleId>
              </a:tblPr>
              <a:tblGrid>
                <a:gridCol w="7886700">
                  <a:extLst>
                    <a:ext uri="{9D8B030D-6E8A-4147-A177-3AD203B41FA5}">
                      <a16:colId xmlns:a16="http://schemas.microsoft.com/office/drawing/2014/main" val="404207820"/>
                    </a:ext>
                  </a:extLst>
                </a:gridCol>
                <a:gridCol w="7886700">
                  <a:extLst>
                    <a:ext uri="{9D8B030D-6E8A-4147-A177-3AD203B41FA5}">
                      <a16:colId xmlns:a16="http://schemas.microsoft.com/office/drawing/2014/main" val="3432673864"/>
                    </a:ext>
                  </a:extLst>
                </a:gridCol>
              </a:tblGrid>
              <a:tr h="814145">
                <a:tc>
                  <a:txBody>
                    <a:bodyPr/>
                    <a:lstStyle/>
                    <a:p>
                      <a:pPr>
                        <a:buNone/>
                      </a:pPr>
                      <a:r>
                        <a:rPr lang="en-IN"/>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4097396"/>
                  </a:ext>
                </a:extLst>
              </a:tr>
              <a:tr h="814145">
                <a:tc>
                  <a:txBody>
                    <a:bodyPr/>
                    <a:lstStyle/>
                    <a:p>
                      <a:pPr>
                        <a:buNone/>
                      </a:pPr>
                      <a:r>
                        <a:rPr lang="en-IN"/>
                        <a:t>Simulation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172561"/>
                  </a:ext>
                </a:extLst>
              </a:tr>
              <a:tr h="814145">
                <a:tc>
                  <a:txBody>
                    <a:bodyPr/>
                    <a:lstStyle/>
                    <a:p>
                      <a:pPr>
                        <a:buNone/>
                      </a:pPr>
                      <a:r>
                        <a:rPr lang="en-IN" dirty="0"/>
                        <a:t>Backend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FastAPI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5793926"/>
                  </a:ext>
                </a:extLst>
              </a:tr>
              <a:tr h="814145">
                <a:tc>
                  <a:txBody>
                    <a:bodyPr/>
                    <a:lstStyle/>
                    <a:p>
                      <a:pPr>
                        <a:buNone/>
                      </a:pPr>
                      <a:r>
                        <a:rPr lang="en-IN" dirty="0"/>
                        <a:t>Data Exchange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JSON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5709969"/>
                  </a:ext>
                </a:extLst>
              </a:tr>
              <a:tr h="814145">
                <a:tc>
                  <a:txBody>
                    <a:bodyPr/>
                    <a:lstStyle/>
                    <a:p>
                      <a:pPr>
                        <a:buNone/>
                      </a:pPr>
                      <a:r>
                        <a:rPr lang="en-IN"/>
                        <a:t>Visualization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HTML5 Canvas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900991"/>
                  </a:ext>
                </a:extLst>
              </a:tr>
              <a:tr h="814145">
                <a:tc>
                  <a:txBody>
                    <a:bodyPr/>
                    <a:lstStyle/>
                    <a:p>
                      <a:pPr>
                        <a:buNone/>
                      </a:pPr>
                      <a:r>
                        <a:rPr lang="en-IN"/>
                        <a:t>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D3.js / Chart.js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295935"/>
                  </a:ext>
                </a:extLst>
              </a:tr>
              <a:tr h="814145">
                <a:tc>
                  <a:txBody>
                    <a:bodyPr/>
                    <a:lstStyle/>
                    <a:p>
                      <a:pPr>
                        <a:buNone/>
                      </a:pPr>
                      <a:r>
                        <a:rPr lang="en-IN" dirty="0"/>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Local Storage / </a:t>
                      </a:r>
                      <a:r>
                        <a:rPr lang="en-IN" dirty="0" err="1"/>
                        <a:t>IndexedDB</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291043"/>
                  </a:ext>
                </a:extLst>
              </a:tr>
            </a:tbl>
          </a:graphicData>
        </a:graphic>
      </p:graphicFrame>
    </p:spTree>
    <p:extLst>
      <p:ext uri="{BB962C8B-B14F-4D97-AF65-F5344CB8AC3E}">
        <p14:creationId xmlns:p14="http://schemas.microsoft.com/office/powerpoint/2010/main" val="243214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247BF-133A-8395-26A1-E21BF9606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38D1C-D237-EC7B-1D82-12F4642B0E08}"/>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graphicFrame>
        <p:nvGraphicFramePr>
          <p:cNvPr id="7" name="Content Placeholder 6">
            <a:extLst>
              <a:ext uri="{FF2B5EF4-FFF2-40B4-BE49-F238E27FC236}">
                <a16:creationId xmlns:a16="http://schemas.microsoft.com/office/drawing/2014/main" id="{D0772037-5A9B-AD3A-5535-8F0B8E891BF4}"/>
              </a:ext>
            </a:extLst>
          </p:cNvPr>
          <p:cNvGraphicFramePr>
            <a:graphicFrameLocks noGrp="1"/>
          </p:cNvGraphicFramePr>
          <p:nvPr>
            <p:ph idx="1"/>
            <p:extLst>
              <p:ext uri="{D42A27DB-BD31-4B8C-83A1-F6EECF244321}">
                <p14:modId xmlns:p14="http://schemas.microsoft.com/office/powerpoint/2010/main" val="3771228316"/>
              </p:ext>
            </p:extLst>
          </p:nvPr>
        </p:nvGraphicFramePr>
        <p:xfrm>
          <a:off x="1252432" y="2187682"/>
          <a:ext cx="15773400" cy="7667168"/>
        </p:xfrm>
        <a:graphic>
          <a:graphicData uri="http://schemas.openxmlformats.org/drawingml/2006/table">
            <a:tbl>
              <a:tblPr/>
              <a:tblGrid>
                <a:gridCol w="15773400">
                  <a:extLst>
                    <a:ext uri="{9D8B030D-6E8A-4147-A177-3AD203B41FA5}">
                      <a16:colId xmlns:a16="http://schemas.microsoft.com/office/drawing/2014/main" val="2534754469"/>
                    </a:ext>
                  </a:extLst>
                </a:gridCol>
              </a:tblGrid>
              <a:tr h="5582181">
                <a:tc>
                  <a:txBody>
                    <a:bodyPr/>
                    <a:lstStyle/>
                    <a:p>
                      <a:pPr fontAlgn="t">
                        <a:lnSpc>
                          <a:spcPct val="150000"/>
                        </a:lnSpc>
                        <a:buNone/>
                      </a:pPr>
                      <a:r>
                        <a:rPr lang="en-IN" b="1" i="0">
                          <a:effectLst/>
                          <a:latin typeface="Segoe UI" panose="020B0502040204020203" pitchFamily="34" charset="0"/>
                        </a:rPr>
                        <a:t>Evaluation Metrics</a:t>
                      </a:r>
                    </a:p>
                    <a:p>
                      <a:pPr fontAlgn="t">
                        <a:lnSpc>
                          <a:spcPct val="150000"/>
                        </a:lnSpc>
                        <a:buFont typeface="Arial" panose="020B0604020202020204" pitchFamily="34" charset="0"/>
                        <a:buChar char="•"/>
                      </a:pPr>
                      <a:r>
                        <a:rPr lang="en-IN" b="0" i="0">
                          <a:effectLst/>
                          <a:latin typeface="Segoe UI" panose="020B0502040204020203" pitchFamily="34" charset="0"/>
                        </a:rPr>
                        <a:t>Average Wait Time</a:t>
                      </a:r>
                    </a:p>
                    <a:p>
                      <a:pPr fontAlgn="t">
                        <a:lnSpc>
                          <a:spcPct val="150000"/>
                        </a:lnSpc>
                        <a:buFont typeface="Arial" panose="020B0604020202020204" pitchFamily="34" charset="0"/>
                        <a:buChar char="•"/>
                      </a:pPr>
                      <a:r>
                        <a:rPr lang="en-IN" b="0" i="0">
                          <a:effectLst/>
                          <a:latin typeface="Segoe UI" panose="020B0502040204020203" pitchFamily="34" charset="0"/>
                        </a:rPr>
                        <a:t>Number of Stops</a:t>
                      </a:r>
                    </a:p>
                    <a:p>
                      <a:pPr fontAlgn="t">
                        <a:lnSpc>
                          <a:spcPct val="150000"/>
                        </a:lnSpc>
                        <a:buFont typeface="Arial" panose="020B0604020202020204" pitchFamily="34" charset="0"/>
                        <a:buChar char="•"/>
                      </a:pPr>
                      <a:r>
                        <a:rPr lang="en-IN" b="0" i="0">
                          <a:effectLst/>
                          <a:latin typeface="Segoe UI" panose="020B0502040204020203" pitchFamily="34" charset="0"/>
                        </a:rPr>
                        <a:t>Traffic Throughput</a:t>
                      </a:r>
                    </a:p>
                    <a:p>
                      <a:pPr fontAlgn="t">
                        <a:lnSpc>
                          <a:spcPct val="150000"/>
                        </a:lnSpc>
                        <a:buFont typeface="Arial" panose="020B0604020202020204" pitchFamily="34" charset="0"/>
                        <a:buChar char="•"/>
                      </a:pPr>
                      <a:r>
                        <a:rPr lang="en-IN" b="0" i="0">
                          <a:effectLst/>
                          <a:latin typeface="Segoe UI" panose="020B0502040204020203" pitchFamily="34" charset="0"/>
                        </a:rPr>
                        <a:t>Space / Land Footprint</a:t>
                      </a:r>
                    </a:p>
                    <a:p>
                      <a:pPr fontAlgn="t">
                        <a:lnSpc>
                          <a:spcPct val="150000"/>
                        </a:lnSpc>
                        <a:buFont typeface="Arial" panose="020B0604020202020204" pitchFamily="34" charset="0"/>
                        <a:buChar char="•"/>
                      </a:pPr>
                      <a:r>
                        <a:rPr lang="en-IN" b="0" i="0">
                          <a:effectLst/>
                          <a:latin typeface="Segoe UI" panose="020B0502040204020203" pitchFamily="34" charset="0"/>
                        </a:rPr>
                        <a:t>Congestion Levels</a:t>
                      </a:r>
                    </a:p>
                    <a:p>
                      <a:pPr fontAlgn="t">
                        <a:lnSpc>
                          <a:spcPct val="150000"/>
                        </a:lnSpc>
                        <a:buNone/>
                      </a:pPr>
                      <a:r>
                        <a:rPr lang="en-IN" b="1" i="0">
                          <a:effectLst/>
                          <a:latin typeface="Segoe UI" panose="020B0502040204020203" pitchFamily="34" charset="0"/>
                        </a:rPr>
                        <a:t>Expected Outcome</a:t>
                      </a:r>
                    </a:p>
                    <a:p>
                      <a:pPr fontAlgn="t">
                        <a:lnSpc>
                          <a:spcPct val="150000"/>
                        </a:lnSpc>
                        <a:buFont typeface="Arial" panose="020B0604020202020204" pitchFamily="34" charset="0"/>
                        <a:buChar char="•"/>
                      </a:pPr>
                      <a:r>
                        <a:rPr lang="en-IN" b="0" i="0">
                          <a:effectLst/>
                          <a:latin typeface="Segoe UI" panose="020B0502040204020203" pitchFamily="34" charset="0"/>
                        </a:rPr>
                        <a:t>Visual comparison of intersection designs</a:t>
                      </a:r>
                    </a:p>
                    <a:p>
                      <a:pPr fontAlgn="t">
                        <a:lnSpc>
                          <a:spcPct val="150000"/>
                        </a:lnSpc>
                        <a:buFont typeface="Arial" panose="020B0604020202020204" pitchFamily="34" charset="0"/>
                        <a:buChar char="•"/>
                      </a:pPr>
                      <a:r>
                        <a:rPr lang="en-IN" b="0" i="0">
                          <a:effectLst/>
                          <a:latin typeface="Segoe UI" panose="020B0502040204020203" pitchFamily="34" charset="0"/>
                        </a:rPr>
                        <a:t>Data-backed performance insights</a:t>
                      </a:r>
                    </a:p>
                    <a:p>
                      <a:pPr fontAlgn="t">
                        <a:lnSpc>
                          <a:spcPct val="150000"/>
                        </a:lnSpc>
                        <a:buFont typeface="Arial" panose="020B0604020202020204" pitchFamily="34" charset="0"/>
                        <a:buChar char="•"/>
                      </a:pPr>
                      <a:r>
                        <a:rPr lang="en-IN" b="0" i="0">
                          <a:effectLst/>
                          <a:latin typeface="Segoe UI" panose="020B0502040204020203" pitchFamily="34" charset="0"/>
                        </a:rPr>
                        <a:t>User-weighted recommendations</a:t>
                      </a:r>
                    </a:p>
                    <a:p>
                      <a:pPr fontAlgn="t">
                        <a:lnSpc>
                          <a:spcPct val="150000"/>
                        </a:lnSpc>
                        <a:buFont typeface="Arial" panose="020B0604020202020204" pitchFamily="34" charset="0"/>
                        <a:buChar char="•"/>
                      </a:pPr>
                      <a:r>
                        <a:rPr lang="en-IN" b="0" i="0">
                          <a:effectLst/>
                          <a:latin typeface="Segoe UI" panose="020B0502040204020203" pitchFamily="34" charset="0"/>
                        </a:rPr>
                        <a:t>Foundation for future extensions such as multi-intersection networks and advanced traffic scenarios</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960326532"/>
                  </a:ext>
                </a:extLst>
              </a:tr>
              <a:tr h="786308">
                <a:tc>
                  <a:txBody>
                    <a:bodyPr/>
                    <a:lstStyle/>
                    <a:p>
                      <a:pPr>
                        <a:lnSpc>
                          <a:spcPct val="150000"/>
                        </a:lnSpc>
                      </a:pPr>
                      <a:endParaRPr lang="en-IN" dirty="0"/>
                    </a:p>
                  </a:txBody>
                  <a:tcPr>
                    <a:lnL w="12700" cmpd="sng">
                      <a:noFill/>
                      <a:prstDash val="solid"/>
                    </a:lnL>
                    <a:lnR w="12700" cmpd="sng">
                      <a:noFill/>
                      <a:prstDash val="solid"/>
                    </a:lnR>
                    <a:lnT w="63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554583287"/>
                  </a:ext>
                </a:extLst>
              </a:tr>
            </a:tbl>
          </a:graphicData>
        </a:graphic>
      </p:graphicFrame>
      <p:sp>
        <p:nvSpPr>
          <p:cNvPr id="4" name="Text Placeholder 3">
            <a:extLst>
              <a:ext uri="{FF2B5EF4-FFF2-40B4-BE49-F238E27FC236}">
                <a16:creationId xmlns:a16="http://schemas.microsoft.com/office/drawing/2014/main" id="{84191AED-75A8-994D-1070-DFAFBABDE30A}"/>
              </a:ext>
            </a:extLst>
          </p:cNvPr>
          <p:cNvSpPr>
            <a:spLocks noGrp="1"/>
          </p:cNvSpPr>
          <p:nvPr>
            <p:ph type="body" sz="quarter" idx="10"/>
          </p:nvPr>
        </p:nvSpPr>
        <p:spPr/>
        <p:txBody>
          <a:bodyPr/>
          <a:lstStyle/>
          <a:p>
            <a:r>
              <a:rPr lang="en-US" dirty="0"/>
              <a:t>Metrics and Expected Outcome</a:t>
            </a:r>
            <a:endParaRPr lang="en-IN" dirty="0"/>
          </a:p>
        </p:txBody>
      </p:sp>
    </p:spTree>
    <p:extLst>
      <p:ext uri="{BB962C8B-B14F-4D97-AF65-F5344CB8AC3E}">
        <p14:creationId xmlns:p14="http://schemas.microsoft.com/office/powerpoint/2010/main" val="300972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09E26-49DE-4668-D899-9A0DCBDA1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71E046-74A2-88EE-C748-11B95DE9B3EE}"/>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graphicFrame>
        <p:nvGraphicFramePr>
          <p:cNvPr id="7" name="Content Placeholder 6">
            <a:extLst>
              <a:ext uri="{FF2B5EF4-FFF2-40B4-BE49-F238E27FC236}">
                <a16:creationId xmlns:a16="http://schemas.microsoft.com/office/drawing/2014/main" id="{C09D1A45-6D44-BBC4-1DE8-4A05E65513E8}"/>
              </a:ext>
            </a:extLst>
          </p:cNvPr>
          <p:cNvGraphicFramePr>
            <a:graphicFrameLocks noGrp="1"/>
          </p:cNvGraphicFramePr>
          <p:nvPr>
            <p:ph idx="1"/>
            <p:extLst>
              <p:ext uri="{D42A27DB-BD31-4B8C-83A1-F6EECF244321}">
                <p14:modId xmlns:p14="http://schemas.microsoft.com/office/powerpoint/2010/main" val="1537044894"/>
              </p:ext>
            </p:extLst>
          </p:nvPr>
        </p:nvGraphicFramePr>
        <p:xfrm>
          <a:off x="1252432" y="2187682"/>
          <a:ext cx="15773400" cy="7049948"/>
        </p:xfrm>
        <a:graphic>
          <a:graphicData uri="http://schemas.openxmlformats.org/drawingml/2006/table">
            <a:tbl>
              <a:tblPr/>
              <a:tblGrid>
                <a:gridCol w="15773400">
                  <a:extLst>
                    <a:ext uri="{9D8B030D-6E8A-4147-A177-3AD203B41FA5}">
                      <a16:colId xmlns:a16="http://schemas.microsoft.com/office/drawing/2014/main" val="2534754469"/>
                    </a:ext>
                  </a:extLst>
                </a:gridCol>
              </a:tblGrid>
              <a:tr h="5582181">
                <a:tc>
                  <a:txBody>
                    <a:bodyPr/>
                    <a:lstStyle/>
                    <a:p>
                      <a:pPr fontAlgn="t">
                        <a:lnSpc>
                          <a:spcPct val="150000"/>
                        </a:lnSpc>
                        <a:buNone/>
                      </a:pPr>
                      <a:r>
                        <a:rPr lang="en-IN" b="1" i="0" dirty="0">
                          <a:effectLst/>
                          <a:latin typeface="Segoe UI" panose="020B0502040204020203" pitchFamily="34" charset="0"/>
                        </a:rPr>
                        <a:t>Scope</a:t>
                      </a:r>
                      <a:endParaRPr lang="en-IN" b="0" i="0" dirty="0">
                        <a:effectLst/>
                        <a:latin typeface="Segoe UI" panose="020B0502040204020203" pitchFamily="34" charset="0"/>
                      </a:endParaRPr>
                    </a:p>
                    <a:p>
                      <a:pPr fontAlgn="t">
                        <a:lnSpc>
                          <a:spcPct val="150000"/>
                        </a:lnSpc>
                        <a:buFont typeface="Arial" panose="020B0604020202020204" pitchFamily="34" charset="0"/>
                        <a:buChar char="•"/>
                      </a:pPr>
                      <a:r>
                        <a:rPr lang="en-IN" b="0" i="0" dirty="0">
                          <a:effectLst/>
                          <a:latin typeface="Segoe UI" panose="020B0502040204020203" pitchFamily="34" charset="0"/>
                        </a:rPr>
                        <a:t>Single intersection (North &amp; South approaches)</a:t>
                      </a:r>
                    </a:p>
                    <a:p>
                      <a:pPr fontAlgn="t">
                        <a:lnSpc>
                          <a:spcPct val="150000"/>
                        </a:lnSpc>
                        <a:buFont typeface="Arial" panose="020B0604020202020204" pitchFamily="34" charset="0"/>
                        <a:buChar char="•"/>
                      </a:pPr>
                      <a:r>
                        <a:rPr lang="en-IN" b="0" i="0" dirty="0">
                          <a:effectLst/>
                          <a:latin typeface="Segoe UI" panose="020B0502040204020203" pitchFamily="34" charset="0"/>
                        </a:rPr>
                        <a:t>One lane per direction</a:t>
                      </a:r>
                    </a:p>
                    <a:p>
                      <a:pPr fontAlgn="t">
                        <a:lnSpc>
                          <a:spcPct val="150000"/>
                        </a:lnSpc>
                        <a:buFont typeface="Arial" panose="020B0604020202020204" pitchFamily="34" charset="0"/>
                        <a:buChar char="•"/>
                      </a:pPr>
                      <a:r>
                        <a:rPr lang="en-IN" b="0" i="0" dirty="0">
                          <a:effectLst/>
                          <a:latin typeface="Segoe UI" panose="020B0502040204020203" pitchFamily="34" charset="0"/>
                        </a:rPr>
                        <a:t>Straight-through vehicle movement</a:t>
                      </a:r>
                    </a:p>
                    <a:p>
                      <a:pPr fontAlgn="t">
                        <a:lnSpc>
                          <a:spcPct val="150000"/>
                        </a:lnSpc>
                        <a:buFont typeface="Arial" panose="020B0604020202020204" pitchFamily="34" charset="0"/>
                        <a:buChar char="•"/>
                      </a:pPr>
                      <a:r>
                        <a:rPr lang="en-IN" b="0" i="0" dirty="0">
                          <a:effectLst/>
                          <a:latin typeface="Segoe UI" panose="020B0502040204020203" pitchFamily="34" charset="0"/>
                        </a:rPr>
                        <a:t>Fixed vehicle arrival pattern</a:t>
                      </a:r>
                    </a:p>
                    <a:p>
                      <a:pPr fontAlgn="t">
                        <a:lnSpc>
                          <a:spcPct val="150000"/>
                        </a:lnSpc>
                        <a:buFont typeface="Arial" panose="020B0604020202020204" pitchFamily="34" charset="0"/>
                        <a:buChar char="•"/>
                      </a:pPr>
                      <a:r>
                        <a:rPr lang="en-IN" b="0" i="0" dirty="0">
                          <a:effectLst/>
                          <a:latin typeface="Segoe UI" panose="020B0502040204020203" pitchFamily="34" charset="0"/>
                        </a:rPr>
                        <a:t>Signal and Roundabout control logic</a:t>
                      </a:r>
                    </a:p>
                    <a:p>
                      <a:pPr fontAlgn="t">
                        <a:lnSpc>
                          <a:spcPct val="150000"/>
                        </a:lnSpc>
                        <a:buFont typeface="Arial" panose="020B0604020202020204" pitchFamily="34" charset="0"/>
                        <a:buChar char="•"/>
                      </a:pPr>
                      <a:r>
                        <a:rPr lang="en-IN" b="0" i="0" dirty="0">
                          <a:effectLst/>
                          <a:latin typeface="Segoe UI" panose="020B0502040204020203" pitchFamily="34" charset="0"/>
                        </a:rPr>
                        <a:t>Metrics collection and JSON snapshot export </a:t>
                      </a:r>
                    </a:p>
                    <a:p>
                      <a:pPr fontAlgn="t">
                        <a:lnSpc>
                          <a:spcPct val="150000"/>
                        </a:lnSpc>
                        <a:buFont typeface="Arial" panose="020B0604020202020204" pitchFamily="34" charset="0"/>
                        <a:buNone/>
                      </a:pPr>
                      <a:r>
                        <a:rPr lang="en-IN" b="1" i="0" dirty="0">
                          <a:effectLst/>
                          <a:latin typeface="Segoe UI" panose="020B0502040204020203" pitchFamily="34" charset="0"/>
                        </a:rPr>
                        <a:t>Outcome</a:t>
                      </a:r>
                      <a:endParaRPr lang="en-IN" b="0" i="0" dirty="0">
                        <a:effectLst/>
                        <a:latin typeface="Segoe UI" panose="020B0502040204020203" pitchFamily="34" charset="0"/>
                      </a:endParaRPr>
                    </a:p>
                    <a:p>
                      <a:pPr fontAlgn="t">
                        <a:lnSpc>
                          <a:spcPct val="150000"/>
                        </a:lnSpc>
                        <a:buFont typeface="Arial" panose="020B0604020202020204" pitchFamily="34" charset="0"/>
                        <a:buChar char="•"/>
                      </a:pPr>
                      <a:r>
                        <a:rPr lang="en-IN" b="0" i="0" dirty="0">
                          <a:effectLst/>
                          <a:latin typeface="Segoe UI" panose="020B0502040204020203" pitchFamily="34" charset="0"/>
                        </a:rPr>
                        <a:t>Demonstrates realistic traffic </a:t>
                      </a:r>
                      <a:r>
                        <a:rPr lang="en-IN" b="0" i="0" dirty="0" err="1">
                          <a:effectLst/>
                          <a:latin typeface="Segoe UI" panose="020B0502040204020203" pitchFamily="34" charset="0"/>
                        </a:rPr>
                        <a:t>behavior</a:t>
                      </a:r>
                      <a:r>
                        <a:rPr lang="en-IN" b="0" i="0" dirty="0">
                          <a:effectLst/>
                          <a:latin typeface="Segoe UI" panose="020B0502040204020203" pitchFamily="34" charset="0"/>
                        </a:rPr>
                        <a:t> using a shared vehicle motion model.</a:t>
                      </a:r>
                    </a:p>
                    <a:p>
                      <a:pPr fontAlgn="t">
                        <a:lnSpc>
                          <a:spcPct val="150000"/>
                        </a:lnSpc>
                        <a:buFont typeface="Arial" panose="020B0604020202020204" pitchFamily="34" charset="0"/>
                        <a:buChar char="•"/>
                      </a:pPr>
                      <a:r>
                        <a:rPr lang="en-IN" b="0" i="0" dirty="0">
                          <a:effectLst/>
                          <a:latin typeface="Segoe UI" panose="020B0502040204020203" pitchFamily="34" charset="0"/>
                        </a:rPr>
                        <a:t>Produces measurable differences between control strategies under the same scenario.</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960326532"/>
                  </a:ext>
                </a:extLst>
              </a:tr>
              <a:tr h="786308">
                <a:tc>
                  <a:txBody>
                    <a:bodyPr/>
                    <a:lstStyle/>
                    <a:p>
                      <a:pPr>
                        <a:lnSpc>
                          <a:spcPct val="150000"/>
                        </a:lnSpc>
                      </a:pPr>
                      <a:endParaRPr lang="en-IN" dirty="0"/>
                    </a:p>
                  </a:txBody>
                  <a:tcPr>
                    <a:lnL w="12700" cmpd="sng">
                      <a:noFill/>
                      <a:prstDash val="solid"/>
                    </a:lnL>
                    <a:lnR w="12700" cmpd="sng">
                      <a:noFill/>
                      <a:prstDash val="solid"/>
                    </a:lnR>
                    <a:lnT w="63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554583287"/>
                  </a:ext>
                </a:extLst>
              </a:tr>
            </a:tbl>
          </a:graphicData>
        </a:graphic>
      </p:graphicFrame>
      <p:sp>
        <p:nvSpPr>
          <p:cNvPr id="4" name="Text Placeholder 3">
            <a:extLst>
              <a:ext uri="{FF2B5EF4-FFF2-40B4-BE49-F238E27FC236}">
                <a16:creationId xmlns:a16="http://schemas.microsoft.com/office/drawing/2014/main" id="{D274A497-0A00-95F0-C9B8-DDB2480FAF4C}"/>
              </a:ext>
            </a:extLst>
          </p:cNvPr>
          <p:cNvSpPr>
            <a:spLocks noGrp="1"/>
          </p:cNvSpPr>
          <p:nvPr>
            <p:ph type="body" sz="quarter" idx="10"/>
          </p:nvPr>
        </p:nvSpPr>
        <p:spPr/>
        <p:txBody>
          <a:bodyPr/>
          <a:lstStyle/>
          <a:p>
            <a:r>
              <a:rPr lang="en-US" dirty="0"/>
              <a:t>POC – v1</a:t>
            </a:r>
            <a:endParaRPr lang="en-IN" dirty="0"/>
          </a:p>
        </p:txBody>
      </p:sp>
    </p:spTree>
    <p:extLst>
      <p:ext uri="{BB962C8B-B14F-4D97-AF65-F5344CB8AC3E}">
        <p14:creationId xmlns:p14="http://schemas.microsoft.com/office/powerpoint/2010/main" val="2700220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0040D-4924-309A-2F76-0C8477EBD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0CB24-E859-9F2E-F481-C9CE19D96565}"/>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graphicFrame>
        <p:nvGraphicFramePr>
          <p:cNvPr id="7" name="Content Placeholder 6">
            <a:extLst>
              <a:ext uri="{FF2B5EF4-FFF2-40B4-BE49-F238E27FC236}">
                <a16:creationId xmlns:a16="http://schemas.microsoft.com/office/drawing/2014/main" id="{683B29C0-A142-9D79-EE14-4D4FE9736E89}"/>
              </a:ext>
            </a:extLst>
          </p:cNvPr>
          <p:cNvGraphicFramePr>
            <a:graphicFrameLocks noGrp="1"/>
          </p:cNvGraphicFramePr>
          <p:nvPr>
            <p:ph idx="1"/>
            <p:extLst>
              <p:ext uri="{D42A27DB-BD31-4B8C-83A1-F6EECF244321}">
                <p14:modId xmlns:p14="http://schemas.microsoft.com/office/powerpoint/2010/main" val="1969162582"/>
              </p:ext>
            </p:extLst>
          </p:nvPr>
        </p:nvGraphicFramePr>
        <p:xfrm>
          <a:off x="1252432" y="2187682"/>
          <a:ext cx="15773400" cy="6368489"/>
        </p:xfrm>
        <a:graphic>
          <a:graphicData uri="http://schemas.openxmlformats.org/drawingml/2006/table">
            <a:tbl>
              <a:tblPr/>
              <a:tblGrid>
                <a:gridCol w="15773400">
                  <a:extLst>
                    <a:ext uri="{9D8B030D-6E8A-4147-A177-3AD203B41FA5}">
                      <a16:colId xmlns:a16="http://schemas.microsoft.com/office/drawing/2014/main" val="2534754469"/>
                    </a:ext>
                  </a:extLst>
                </a:gridCol>
              </a:tblGrid>
              <a:tr h="5582181">
                <a:tc>
                  <a:txBody>
                    <a:bodyPr/>
                    <a:lstStyle/>
                    <a:p>
                      <a:pPr fontAlgn="t">
                        <a:lnSpc>
                          <a:spcPct val="150000"/>
                        </a:lnSpc>
                        <a:buNone/>
                      </a:pPr>
                      <a:endParaRPr lang="en-IN" b="0" i="0" dirty="0">
                        <a:effectLst/>
                        <a:latin typeface="Segoe UI" panose="020B0502040204020203" pitchFamily="34" charset="0"/>
                      </a:endParaRP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960326532"/>
                  </a:ext>
                </a:extLst>
              </a:tr>
              <a:tr h="786308">
                <a:tc>
                  <a:txBody>
                    <a:bodyPr/>
                    <a:lstStyle/>
                    <a:p>
                      <a:pPr>
                        <a:lnSpc>
                          <a:spcPct val="150000"/>
                        </a:lnSpc>
                      </a:pPr>
                      <a:endParaRPr lang="en-IN" dirty="0"/>
                    </a:p>
                  </a:txBody>
                  <a:tcPr>
                    <a:lnL w="12700" cmpd="sng">
                      <a:noFill/>
                      <a:prstDash val="solid"/>
                    </a:lnL>
                    <a:lnR w="12700" cmpd="sng">
                      <a:noFill/>
                      <a:prstDash val="solid"/>
                    </a:lnR>
                    <a:lnT w="63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554583287"/>
                  </a:ext>
                </a:extLst>
              </a:tr>
            </a:tbl>
          </a:graphicData>
        </a:graphic>
      </p:graphicFrame>
      <p:sp>
        <p:nvSpPr>
          <p:cNvPr id="4" name="Text Placeholder 3">
            <a:extLst>
              <a:ext uri="{FF2B5EF4-FFF2-40B4-BE49-F238E27FC236}">
                <a16:creationId xmlns:a16="http://schemas.microsoft.com/office/drawing/2014/main" id="{86035905-00FE-6ED0-1F05-09803156FEA7}"/>
              </a:ext>
            </a:extLst>
          </p:cNvPr>
          <p:cNvSpPr>
            <a:spLocks noGrp="1"/>
          </p:cNvSpPr>
          <p:nvPr>
            <p:ph type="body" sz="quarter" idx="10"/>
          </p:nvPr>
        </p:nvSpPr>
        <p:spPr/>
        <p:txBody>
          <a:bodyPr/>
          <a:lstStyle/>
          <a:p>
            <a:r>
              <a:rPr lang="en-US" dirty="0"/>
              <a:t>Working</a:t>
            </a:r>
            <a:endParaRPr lang="en-IN" dirty="0"/>
          </a:p>
        </p:txBody>
      </p:sp>
    </p:spTree>
    <p:extLst>
      <p:ext uri="{BB962C8B-B14F-4D97-AF65-F5344CB8AC3E}">
        <p14:creationId xmlns:p14="http://schemas.microsoft.com/office/powerpoint/2010/main" val="292231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2.xml><?xml version="1.0" encoding="utf-8"?>
<a:theme xmlns:a="http://schemas.openxmlformats.org/drawingml/2006/main" name="SAS - EXTERNAL - NDA">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1F7D936B-969F-4F95-90C8-977DE9F23A1E}"/>
    </a:ext>
  </a:extLst>
</a:theme>
</file>

<file path=ppt/theme/theme3.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52B48C136D414EB12EC6609A2B4A69" ma:contentTypeVersion="5" ma:contentTypeDescription="Create a new document." ma:contentTypeScope="" ma:versionID="c506d0840867f1adddbc926f9a8dfc6f">
  <xsd:schema xmlns:xsd="http://www.w3.org/2001/XMLSchema" xmlns:xs="http://www.w3.org/2001/XMLSchema" xmlns:p="http://schemas.microsoft.com/office/2006/metadata/properties" xmlns:ns2="d21cdafc-5a3a-425e-9674-4fb06b514c0e" xmlns:ns3="6e647c50-2143-4825-9865-d236e7692e65" targetNamespace="http://schemas.microsoft.com/office/2006/metadata/properties" ma:root="true" ma:fieldsID="0df08590ed69fcf4c72a3fc3581b1869" ns2:_="" ns3:_="">
    <xsd:import namespace="d21cdafc-5a3a-425e-9674-4fb06b514c0e"/>
    <xsd:import namespace="6e647c50-2143-4825-9865-d236e7692e6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1cdafc-5a3a-425e-9674-4fb06b514c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647c50-2143-4825-9865-d236e7692e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2.xml><?xml version="1.0" encoding="utf-8"?>
<ds:datastoreItem xmlns:ds="http://schemas.openxmlformats.org/officeDocument/2006/customXml" ds:itemID="{E2663518-7548-4643-8219-608BFF0DFA0C}">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terms/"/>
    <ds:schemaRef ds:uri="d21cdafc-5a3a-425e-9674-4fb06b514c0e"/>
    <ds:schemaRef ds:uri="http://www.w3.org/XML/1998/namespace"/>
    <ds:schemaRef ds:uri="6e647c50-2143-4825-9865-d236e7692e65"/>
    <ds:schemaRef ds:uri="http://purl.org/dc/dcmitype/"/>
  </ds:schemaRefs>
</ds:datastoreItem>
</file>

<file path=customXml/itemProps3.xml><?xml version="1.0" encoding="utf-8"?>
<ds:datastoreItem xmlns:ds="http://schemas.openxmlformats.org/officeDocument/2006/customXml" ds:itemID="{51779852-367B-483D-8C46-CF2C7DC5D261}">
  <ds:schemaRefs>
    <ds:schemaRef ds:uri="6e647c50-2143-4825-9865-d236e7692e65"/>
    <ds:schemaRef ds:uri="d21cdafc-5a3a-425e-9674-4fb06b514c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c448b02-4488-4a47-a34a-2c3d811a2e28}"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EXTERNAL_Template_2023</Template>
  <TotalTime>104</TotalTime>
  <Words>878</Words>
  <Application>Microsoft Office PowerPoint</Application>
  <PresentationFormat>Custom</PresentationFormat>
  <Paragraphs>130</Paragraphs>
  <Slides>15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Anova Light</vt:lpstr>
      <vt:lpstr>Anova Bold</vt:lpstr>
      <vt:lpstr>Segoe UI</vt:lpstr>
      <vt:lpstr>Arial</vt:lpstr>
      <vt:lpstr>SAS - EXTERNAL</vt:lpstr>
      <vt:lpstr>SAS - EXTERNAL - NDA</vt:lpstr>
      <vt:lpstr>Traffic Flow Simulation: Roundabouts vs. Signals</vt:lpstr>
      <vt:lpstr>Traffic Flow Simulation: Roundabouts vs. Signals </vt:lpstr>
      <vt:lpstr>Traffic Flow Simulation: Roundabouts vs. Signals</vt:lpstr>
      <vt:lpstr>Traffic Flow Simulation: Roundabouts vs. Signals</vt:lpstr>
      <vt:lpstr>Traffic Flow Simulation: Roundabouts vs. Signals</vt:lpstr>
      <vt:lpstr>Traffic Flow Simulation: Roundabouts vs. Signals</vt:lpstr>
      <vt:lpstr>Traffic Flow Simulation: Roundabouts vs. Signals</vt:lpstr>
      <vt:lpstr>Proposed Solution</vt:lpstr>
      <vt:lpstr>Traffic Flow Simulation: Roundabouts vs. Signals</vt:lpstr>
      <vt:lpstr>Traffic Flow Simulation: Roundabouts vs. Signals</vt:lpstr>
      <vt:lpstr>Traffic Flow Simulation: Roundabouts vs. Signals</vt:lpstr>
      <vt:lpstr>Traffic Flow Simulation: Roundabouts vs. Signals</vt:lpstr>
      <vt:lpstr>Traffic Flow Simulation: Roundabouts vs. Signals</vt:lpstr>
      <vt:lpstr>Traffic Flow Simulation: Roundabouts vs. Signals</vt:lpstr>
      <vt:lpstr>Traffic Flow Simulation: Roundabouts vs. Signals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Atul Kachare</dc:creator>
  <cp:lastModifiedBy>Khushi Kashyap</cp:lastModifiedBy>
  <cp:revision>6</cp:revision>
  <dcterms:created xsi:type="dcterms:W3CDTF">2024-01-21T11:18:14Z</dcterms:created>
  <dcterms:modified xsi:type="dcterms:W3CDTF">2026-07-23T05:05:00Z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0x0101008252B48C136D414EB12EC6609A2B4A69</vt:lpwstr>
  </property>
</Properties>
</file>